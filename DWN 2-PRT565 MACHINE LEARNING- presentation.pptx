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Poppins" pitchFamily="2" charset="77"/>
      <p:regular r:id="rId23"/>
    </p:embeddedFont>
    <p:embeddedFont>
      <p:font typeface="Poppins Bold" pitchFamily="2" charset="77"/>
      <p:regular r:id="rId24"/>
      <p:bold r:id="rId25"/>
    </p:embeddedFont>
    <p:embeddedFont>
      <p:font typeface="Poppins Bold Italics" pitchFamily="2" charset="77"/>
      <p:regular r:id="rId26"/>
      <p:bold r:id="rId27"/>
      <p:italic r:id="rId28"/>
      <p:boldItalic r:id="rId29"/>
    </p:embeddedFont>
    <p:embeddedFont>
      <p:font typeface="Poppins Italics" pitchFamily="2" charset="77"/>
      <p:regular r:id="rId30"/>
      <p:italic r:id="rId31"/>
    </p:embeddedFont>
    <p:embeddedFont>
      <p:font typeface="Poppins Light" panose="00000400000000000000" pitchFamily="2" charset="77"/>
      <p:regular r:id="rId32"/>
    </p:embeddedFont>
    <p:embeddedFont>
      <p:font typeface="Poppins Light Italics" pitchFamily="2" charset="77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62500" autoAdjust="0"/>
  </p:normalViewPr>
  <p:slideViewPr>
    <p:cSldViewPr>
      <p:cViewPr varScale="1">
        <p:scale>
          <a:sx n="49" d="100"/>
          <a:sy n="49" d="100"/>
        </p:scale>
        <p:origin x="194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4.sv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4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sv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sv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sv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sv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43.pn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4656" y="2380437"/>
            <a:ext cx="12208262" cy="354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0"/>
              </a:lnSpc>
            </a:pPr>
            <a:r>
              <a:rPr lang="en-US" sz="1541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Pump Fault Detection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0612" y="5977319"/>
            <a:ext cx="9339441" cy="35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Machine learning and deep learning on industrial sensor data</a:t>
            </a:r>
          </a:p>
        </p:txBody>
      </p:sp>
      <p:sp>
        <p:nvSpPr>
          <p:cNvPr id="4" name="Freeform 4"/>
          <p:cNvSpPr/>
          <p:nvPr/>
        </p:nvSpPr>
        <p:spPr>
          <a:xfrm>
            <a:off x="9614049" y="42358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3521916" y="286926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087" y="8315325"/>
            <a:ext cx="1349107" cy="2695967"/>
          </a:xfrm>
          <a:custGeom>
            <a:avLst/>
            <a:gdLst/>
            <a:ahLst/>
            <a:cxnLst/>
            <a:rect l="l" t="t" r="r" b="b"/>
            <a:pathLst>
              <a:path w="1349107" h="2695967">
                <a:moveTo>
                  <a:pt x="0" y="0"/>
                </a:moveTo>
                <a:lnTo>
                  <a:pt x="1349107" y="0"/>
                </a:lnTo>
                <a:lnTo>
                  <a:pt x="1349107" y="2695967"/>
                </a:lnTo>
                <a:lnTo>
                  <a:pt x="0" y="26959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" r="-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741194" y="6903525"/>
            <a:ext cx="4575381" cy="3383475"/>
          </a:xfrm>
          <a:custGeom>
            <a:avLst/>
            <a:gdLst/>
            <a:ahLst/>
            <a:cxnLst/>
            <a:rect l="l" t="t" r="r" b="b"/>
            <a:pathLst>
              <a:path w="4575381" h="3383475">
                <a:moveTo>
                  <a:pt x="0" y="0"/>
                </a:moveTo>
                <a:lnTo>
                  <a:pt x="4575381" y="0"/>
                </a:lnTo>
                <a:lnTo>
                  <a:pt x="4575381" y="3383475"/>
                </a:lnTo>
                <a:lnTo>
                  <a:pt x="0" y="3383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612" y="7192137"/>
            <a:ext cx="8254856" cy="103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Van Hoi Dang (Hendrick Dang) – S395598 </a:t>
            </a:r>
          </a:p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 Quynh Nhu Doan (Avery Doan) – S395841 </a:t>
            </a:r>
          </a:p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Phuong Tran Tran (Jane Tran) – S395830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4598" y="978303"/>
            <a:ext cx="9536638" cy="30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PRT565 - Machine Learning, Artificial Intelligence and Algorithms - Assignment 3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991563" y="4599022"/>
            <a:ext cx="664121" cy="447456"/>
          </a:xfrm>
          <a:custGeom>
            <a:avLst/>
            <a:gdLst/>
            <a:ahLst/>
            <a:cxnLst/>
            <a:rect l="l" t="t" r="r" b="b"/>
            <a:pathLst>
              <a:path w="664121" h="447456">
                <a:moveTo>
                  <a:pt x="0" y="0"/>
                </a:moveTo>
                <a:lnTo>
                  <a:pt x="664121" y="0"/>
                </a:lnTo>
                <a:lnTo>
                  <a:pt x="664121" y="447456"/>
                </a:lnTo>
                <a:lnTo>
                  <a:pt x="0" y="44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991563" y="6016923"/>
            <a:ext cx="664121" cy="447456"/>
          </a:xfrm>
          <a:custGeom>
            <a:avLst/>
            <a:gdLst/>
            <a:ahLst/>
            <a:cxnLst/>
            <a:rect l="l" t="t" r="r" b="b"/>
            <a:pathLst>
              <a:path w="664121" h="447456">
                <a:moveTo>
                  <a:pt x="0" y="0"/>
                </a:moveTo>
                <a:lnTo>
                  <a:pt x="664121" y="0"/>
                </a:lnTo>
                <a:lnTo>
                  <a:pt x="664121" y="447456"/>
                </a:lnTo>
                <a:lnTo>
                  <a:pt x="0" y="44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991563" y="7434824"/>
            <a:ext cx="664121" cy="447456"/>
          </a:xfrm>
          <a:custGeom>
            <a:avLst/>
            <a:gdLst/>
            <a:ahLst/>
            <a:cxnLst/>
            <a:rect l="l" t="t" r="r" b="b"/>
            <a:pathLst>
              <a:path w="664121" h="447456">
                <a:moveTo>
                  <a:pt x="0" y="0"/>
                </a:moveTo>
                <a:lnTo>
                  <a:pt x="664121" y="0"/>
                </a:lnTo>
                <a:lnTo>
                  <a:pt x="664121" y="447456"/>
                </a:lnTo>
                <a:lnTo>
                  <a:pt x="0" y="44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294582" y="421893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86664" y="-17340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655684" y="-4702978"/>
            <a:ext cx="8598122" cy="8598122"/>
            <a:chOff x="0" y="0"/>
            <a:chExt cx="11464163" cy="114641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64163" cy="11464163"/>
            </a:xfrm>
            <a:custGeom>
              <a:avLst/>
              <a:gdLst/>
              <a:ahLst/>
              <a:cxnLst/>
              <a:rect l="l" t="t" r="r" b="b"/>
              <a:pathLst>
                <a:path w="11464163" h="11464163">
                  <a:moveTo>
                    <a:pt x="5732018" y="0"/>
                  </a:moveTo>
                  <a:cubicBezTo>
                    <a:pt x="2566289" y="0"/>
                    <a:pt x="0" y="2566289"/>
                    <a:pt x="0" y="5732018"/>
                  </a:cubicBezTo>
                  <a:cubicBezTo>
                    <a:pt x="0" y="8897747"/>
                    <a:pt x="2566289" y="11464163"/>
                    <a:pt x="5732018" y="11464163"/>
                  </a:cubicBezTo>
                  <a:cubicBezTo>
                    <a:pt x="8897747" y="11464163"/>
                    <a:pt x="11464163" y="8897874"/>
                    <a:pt x="11464163" y="5732018"/>
                  </a:cubicBezTo>
                  <a:cubicBezTo>
                    <a:pt x="11464163" y="2566162"/>
                    <a:pt x="8897874" y="0"/>
                    <a:pt x="5732018" y="0"/>
                  </a:cubicBezTo>
                  <a:close/>
                </a:path>
              </a:pathLst>
            </a:custGeom>
            <a:blipFill>
              <a:blip r:embed="rId6"/>
              <a:stretch>
                <a:fillRect l="-44773" r="-447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909627" y="9258300"/>
            <a:ext cx="2378373" cy="2378373"/>
          </a:xfrm>
          <a:custGeom>
            <a:avLst/>
            <a:gdLst/>
            <a:ahLst/>
            <a:cxnLst/>
            <a:rect l="l" t="t" r="r" b="b"/>
            <a:pathLst>
              <a:path w="2378373" h="2378373">
                <a:moveTo>
                  <a:pt x="0" y="0"/>
                </a:moveTo>
                <a:lnTo>
                  <a:pt x="2378373" y="0"/>
                </a:lnTo>
                <a:lnTo>
                  <a:pt x="2378373" y="2378373"/>
                </a:lnTo>
                <a:lnTo>
                  <a:pt x="0" y="2378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004489" y="1046988"/>
            <a:ext cx="3783940" cy="16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4489" y="2400700"/>
            <a:ext cx="7329307" cy="216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Pump Failure Matters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4489" y="5266639"/>
            <a:ext cx="6237332" cy="127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When a pump fails without warning the plant stops and repairs are unplanned. Detecting an abnormal state automatically alerts maintenance immediately.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02004" y="5127184"/>
            <a:ext cx="5379958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52 sensors recorded every minute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02004" y="6545085"/>
            <a:ext cx="5379958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220,320 readings, April to August 2018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02004" y="4551674"/>
            <a:ext cx="4910614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02004" y="5969575"/>
            <a:ext cx="4910614" cy="38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Supervised classification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02004" y="7962986"/>
            <a:ext cx="5379958" cy="64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Labels: NORMAL, RECOVERING, BROKEN</a:t>
            </a:r>
          </a:p>
          <a:p>
            <a:pPr algn="l">
              <a:lnSpc>
                <a:spcPts val="2358"/>
              </a:lnSpc>
            </a:pPr>
            <a:endParaRPr lang="en-US" sz="1800">
              <a:solidFill>
                <a:srgbClr val="54545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02004" y="7387476"/>
            <a:ext cx="4910614" cy="73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Task</a:t>
            </a:r>
          </a:p>
          <a:p>
            <a:pPr algn="l">
              <a:lnSpc>
                <a:spcPts val="2751"/>
              </a:lnSpc>
            </a:pPr>
            <a:endParaRPr lang="en-US" sz="2100">
              <a:solidFill>
                <a:srgbClr val="2E2E7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002536" y="6693408"/>
            <a:ext cx="6263640" cy="2945082"/>
            <a:chOff x="0" y="0"/>
            <a:chExt cx="8351520" cy="3926776"/>
          </a:xfrm>
        </p:grpSpPr>
        <p:sp>
          <p:nvSpPr>
            <p:cNvPr id="21" name="Freeform 21" descr="s2_timeline.png"/>
            <p:cNvSpPr/>
            <p:nvPr/>
          </p:nvSpPr>
          <p:spPr>
            <a:xfrm>
              <a:off x="0" y="0"/>
              <a:ext cx="8351520" cy="3926840"/>
            </a:xfrm>
            <a:custGeom>
              <a:avLst/>
              <a:gdLst/>
              <a:ahLst/>
              <a:cxnLst/>
              <a:rect l="l" t="t" r="r" b="b"/>
              <a:pathLst>
                <a:path w="8351520" h="3926840">
                  <a:moveTo>
                    <a:pt x="0" y="0"/>
                  </a:moveTo>
                  <a:lnTo>
                    <a:pt x="8351520" y="0"/>
                  </a:lnTo>
                  <a:lnTo>
                    <a:pt x="8351520" y="3926840"/>
                  </a:lnTo>
                  <a:lnTo>
                    <a:pt x="0" y="392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96600">
            <a:off x="12848873" y="1281779"/>
            <a:ext cx="1017032" cy="0"/>
          </a:xfrm>
          <a:prstGeom prst="line">
            <a:avLst/>
          </a:prstGeom>
          <a:ln w="19050" cap="rnd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26899" y="2981163"/>
            <a:ext cx="807749" cy="805720"/>
          </a:xfrm>
          <a:custGeom>
            <a:avLst/>
            <a:gdLst/>
            <a:ahLst/>
            <a:cxnLst/>
            <a:rect l="l" t="t" r="r" b="b"/>
            <a:pathLst>
              <a:path w="807749" h="805720">
                <a:moveTo>
                  <a:pt x="0" y="0"/>
                </a:moveTo>
                <a:lnTo>
                  <a:pt x="807748" y="0"/>
                </a:lnTo>
                <a:lnTo>
                  <a:pt x="807748" y="805720"/>
                </a:lnTo>
                <a:lnTo>
                  <a:pt x="0" y="80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26" b="-1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26899" y="5177285"/>
            <a:ext cx="807749" cy="699707"/>
          </a:xfrm>
          <a:custGeom>
            <a:avLst/>
            <a:gdLst/>
            <a:ahLst/>
            <a:cxnLst/>
            <a:rect l="l" t="t" r="r" b="b"/>
            <a:pathLst>
              <a:path w="807749" h="699707">
                <a:moveTo>
                  <a:pt x="0" y="0"/>
                </a:moveTo>
                <a:lnTo>
                  <a:pt x="807748" y="0"/>
                </a:lnTo>
                <a:lnTo>
                  <a:pt x="807748" y="699707"/>
                </a:lnTo>
                <a:lnTo>
                  <a:pt x="0" y="699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50" b="-2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6899" y="7243734"/>
            <a:ext cx="807749" cy="805720"/>
          </a:xfrm>
          <a:custGeom>
            <a:avLst/>
            <a:gdLst/>
            <a:ahLst/>
            <a:cxnLst/>
            <a:rect l="l" t="t" r="r" b="b"/>
            <a:pathLst>
              <a:path w="807749" h="805720">
                <a:moveTo>
                  <a:pt x="0" y="0"/>
                </a:moveTo>
                <a:lnTo>
                  <a:pt x="807748" y="0"/>
                </a:lnTo>
                <a:lnTo>
                  <a:pt x="807748" y="805720"/>
                </a:lnTo>
                <a:lnTo>
                  <a:pt x="0" y="80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6" b="-1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331795" y="7395515"/>
            <a:ext cx="807749" cy="606819"/>
          </a:xfrm>
          <a:custGeom>
            <a:avLst/>
            <a:gdLst/>
            <a:ahLst/>
            <a:cxnLst/>
            <a:rect l="l" t="t" r="r" b="b"/>
            <a:pathLst>
              <a:path w="807749" h="606819">
                <a:moveTo>
                  <a:pt x="0" y="0"/>
                </a:moveTo>
                <a:lnTo>
                  <a:pt x="807748" y="0"/>
                </a:lnTo>
                <a:lnTo>
                  <a:pt x="807748" y="606819"/>
                </a:lnTo>
                <a:lnTo>
                  <a:pt x="0" y="606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3" b="-1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331795" y="2649122"/>
            <a:ext cx="7329307" cy="216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Imbalanced Target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04489" y="1046988"/>
            <a:ext cx="3783940" cy="16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1795" y="4964211"/>
            <a:ext cx="7329307" cy="127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BROKEN appears only 7 times in 220,320 rows, so RECOVERING and BROKEN were merged into one ANOMALY class.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05846" y="2999594"/>
            <a:ext cx="2587895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93.43%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05846" y="5142709"/>
            <a:ext cx="2587895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6.57%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05846" y="3460223"/>
            <a:ext cx="5012893" cy="67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NORMAL: 205,836 rows of healthy operation.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05846" y="5603338"/>
            <a:ext cx="5012893" cy="67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ANOMALY: 14,484 rows, of which only 7 are BROKEN.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05846" y="2496722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Majority class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05846" y="4639847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Minority class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05846" y="7281215"/>
            <a:ext cx="3420361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Accuracy is misleading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64608" y="7281215"/>
            <a:ext cx="3420361" cy="38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we report instead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5846" y="7741844"/>
            <a:ext cx="5012893" cy="67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Predicting NORMAL for every row scores 93.4% accuracy and catches zero faults.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64608" y="7741844"/>
            <a:ext cx="5012893" cy="67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Precision, Recall, F1-score, ROC-AUC and PR-AUC on the anomaly class.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05846" y="6778342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trap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64608" y="6778342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metrics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674794" y="1947624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-2105444" y="-20256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9336024" y="8485632"/>
            <a:ext cx="7269480" cy="1440932"/>
            <a:chOff x="0" y="0"/>
            <a:chExt cx="9692640" cy="1921243"/>
          </a:xfrm>
        </p:grpSpPr>
        <p:sp>
          <p:nvSpPr>
            <p:cNvPr id="28" name="Freeform 28" descr="s3_classes.png"/>
            <p:cNvSpPr/>
            <p:nvPr/>
          </p:nvSpPr>
          <p:spPr>
            <a:xfrm>
              <a:off x="0" y="0"/>
              <a:ext cx="9692640" cy="1921256"/>
            </a:xfrm>
            <a:custGeom>
              <a:avLst/>
              <a:gdLst/>
              <a:ahLst/>
              <a:cxnLst/>
              <a:rect l="l" t="t" r="r" b="b"/>
              <a:pathLst>
                <a:path w="9692640" h="1921256">
                  <a:moveTo>
                    <a:pt x="0" y="0"/>
                  </a:moveTo>
                  <a:lnTo>
                    <a:pt x="9692640" y="0"/>
                  </a:lnTo>
                  <a:lnTo>
                    <a:pt x="9692640" y="1921256"/>
                  </a:lnTo>
                  <a:lnTo>
                    <a:pt x="0" y="1921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6760" y="277994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96600">
            <a:off x="12848873" y="1281779"/>
            <a:ext cx="1017032" cy="0"/>
          </a:xfrm>
          <a:prstGeom prst="line">
            <a:avLst/>
          </a:prstGeom>
          <a:ln w="19050" cap="rnd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455468" y="2418074"/>
            <a:ext cx="7279062" cy="216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Preparing the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5468" y="4547044"/>
            <a:ext cx="7279062" cy="97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Four cleaning decisions, all fitted only on the earlier part of the timeline - the exact split comes next - so nothing from the test period leaks 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83591" y="2597629"/>
            <a:ext cx="5290375" cy="9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sensor_15 is 100% missing. sensor_50 is complete in training but 86% missing in testing, 12 SD adrift. Both removed.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83591" y="4286774"/>
            <a:ext cx="5290375" cy="9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Remaining gaps are short sensor dropouts, filled by time-based interpolation rather than a global mean.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83591" y="2018024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Drop dead sensors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2021" y="2004812"/>
            <a:ext cx="1032377" cy="10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048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0716" y="3700120"/>
            <a:ext cx="1034986" cy="10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048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83591" y="3707168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Fill short gaps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83591" y="5975918"/>
            <a:ext cx="5290375" cy="9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Extreme values clipped to the 0.1 and 99.9 percentile range, with the bounds calculated on training data only.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83591" y="5396313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Clip outliers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83591" y="7665072"/>
            <a:ext cx="5290375" cy="93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50 raw sensors plus backward-looking 5-minute rolling means and standard deviations, giving 150 features and no leakage.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83591" y="7085467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Engineer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4489" y="1046988"/>
            <a:ext cx="3783940" cy="16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42021" y="5397313"/>
            <a:ext cx="1032377" cy="10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048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2021" y="7093563"/>
            <a:ext cx="1032377" cy="10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048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54896" y="5687568"/>
            <a:ext cx="7269480" cy="3428619"/>
            <a:chOff x="0" y="0"/>
            <a:chExt cx="9692640" cy="4571492"/>
          </a:xfrm>
        </p:grpSpPr>
        <p:sp>
          <p:nvSpPr>
            <p:cNvPr id="24" name="Freeform 24" descr="s4_missing.png"/>
            <p:cNvSpPr/>
            <p:nvPr/>
          </p:nvSpPr>
          <p:spPr>
            <a:xfrm>
              <a:off x="0" y="0"/>
              <a:ext cx="9692640" cy="4571492"/>
            </a:xfrm>
            <a:custGeom>
              <a:avLst/>
              <a:gdLst/>
              <a:ahLst/>
              <a:cxnLst/>
              <a:rect l="l" t="t" r="r" b="b"/>
              <a:pathLst>
                <a:path w="9692640" h="4571492">
                  <a:moveTo>
                    <a:pt x="0" y="0"/>
                  </a:moveTo>
                  <a:lnTo>
                    <a:pt x="9692640" y="0"/>
                  </a:lnTo>
                  <a:lnTo>
                    <a:pt x="9692640" y="4571492"/>
                  </a:lnTo>
                  <a:lnTo>
                    <a:pt x="0" y="457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67" y="873452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495825" y="195587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329374" y="-3020978"/>
            <a:ext cx="8451628" cy="8451628"/>
            <a:chOff x="0" y="0"/>
            <a:chExt cx="11268837" cy="112688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68837" cy="11268837"/>
            </a:xfrm>
            <a:custGeom>
              <a:avLst/>
              <a:gdLst/>
              <a:ahLst/>
              <a:cxnLst/>
              <a:rect l="l" t="t" r="r" b="b"/>
              <a:pathLst>
                <a:path w="11268837" h="11268837">
                  <a:moveTo>
                    <a:pt x="5634482" y="0"/>
                  </a:moveTo>
                  <a:cubicBezTo>
                    <a:pt x="2522601" y="0"/>
                    <a:pt x="0" y="2522601"/>
                    <a:pt x="0" y="5634482"/>
                  </a:cubicBezTo>
                  <a:cubicBezTo>
                    <a:pt x="0" y="8746363"/>
                    <a:pt x="2522601" y="11268837"/>
                    <a:pt x="5634482" y="11268837"/>
                  </a:cubicBezTo>
                  <a:cubicBezTo>
                    <a:pt x="8746363" y="11268837"/>
                    <a:pt x="11268837" y="8746236"/>
                    <a:pt x="11268837" y="5634482"/>
                  </a:cubicBezTo>
                  <a:cubicBezTo>
                    <a:pt x="11268837" y="2522728"/>
                    <a:pt x="8746236" y="0"/>
                    <a:pt x="5634482" y="0"/>
                  </a:cubicBezTo>
                  <a:close/>
                </a:path>
              </a:pathLst>
            </a:custGeom>
            <a:blipFill>
              <a:blip r:embed="rId3"/>
              <a:stretch>
                <a:fillRect l="-38843" r="-388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55860">
            <a:off x="15145160" y="1281779"/>
            <a:ext cx="1758115" cy="0"/>
          </a:xfrm>
          <a:prstGeom prst="line">
            <a:avLst/>
          </a:prstGeom>
          <a:ln w="19050" cap="rnd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9258300"/>
            <a:ext cx="2378373" cy="2378373"/>
          </a:xfrm>
          <a:custGeom>
            <a:avLst/>
            <a:gdLst/>
            <a:ahLst/>
            <a:cxnLst/>
            <a:rect l="l" t="t" r="r" b="b"/>
            <a:pathLst>
              <a:path w="2378373" h="2378373">
                <a:moveTo>
                  <a:pt x="0" y="0"/>
                </a:moveTo>
                <a:lnTo>
                  <a:pt x="2378373" y="0"/>
                </a:lnTo>
                <a:lnTo>
                  <a:pt x="2378373" y="2378373"/>
                </a:lnTo>
                <a:lnTo>
                  <a:pt x="0" y="2378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364266" y="2584523"/>
            <a:ext cx="7279062" cy="138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6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Split Trap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4266" y="4370594"/>
            <a:ext cx="7279062" cy="97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Time-series data: we train on the past and test on the future. The obvious split destroys the evaluation.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82395" y="6229836"/>
            <a:ext cx="4989233" cy="67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 anomalies fall between 12 April and 25 July. August is 100% NORMAL.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82395" y="7033098"/>
            <a:ext cx="5442156" cy="67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 naive last-20% split lands in August: 44,064 rows, ZERO anomalies.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82395" y="7836351"/>
            <a:ext cx="5565677" cy="67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Splitting on 1 July gives 6.85% train and 6.17% test anomalies.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7125" y="6263869"/>
            <a:ext cx="591817" cy="58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7125" y="7067150"/>
            <a:ext cx="591817" cy="58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b.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17125" y="7870422"/>
            <a:ext cx="591817" cy="58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c.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63456" y="5650992"/>
            <a:ext cx="7269480" cy="3887076"/>
            <a:chOff x="0" y="0"/>
            <a:chExt cx="9692640" cy="5182768"/>
          </a:xfrm>
        </p:grpSpPr>
        <p:sp>
          <p:nvSpPr>
            <p:cNvPr id="18" name="Freeform 18" descr="s5_split.png"/>
            <p:cNvSpPr/>
            <p:nvPr/>
          </p:nvSpPr>
          <p:spPr>
            <a:xfrm>
              <a:off x="0" y="0"/>
              <a:ext cx="9692640" cy="5182743"/>
            </a:xfrm>
            <a:custGeom>
              <a:avLst/>
              <a:gdLst/>
              <a:ahLst/>
              <a:cxnLst/>
              <a:rect l="l" t="t" r="r" b="b"/>
              <a:pathLst>
                <a:path w="9692640" h="5182743">
                  <a:moveTo>
                    <a:pt x="0" y="0"/>
                  </a:moveTo>
                  <a:lnTo>
                    <a:pt x="9692640" y="0"/>
                  </a:lnTo>
                  <a:lnTo>
                    <a:pt x="9692640" y="5182743"/>
                  </a:lnTo>
                  <a:lnTo>
                    <a:pt x="0" y="51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96600">
            <a:off x="12848873" y="1281779"/>
            <a:ext cx="1017032" cy="0"/>
          </a:xfrm>
          <a:prstGeom prst="line">
            <a:avLst/>
          </a:prstGeom>
          <a:ln w="19050" cap="rnd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05936" y="184056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17259300" y="-1189187"/>
            <a:ext cx="2378373" cy="2378373"/>
          </a:xfrm>
          <a:custGeom>
            <a:avLst/>
            <a:gdLst/>
            <a:ahLst/>
            <a:cxnLst/>
            <a:rect l="l" t="t" r="r" b="b"/>
            <a:pathLst>
              <a:path w="2378373" h="2378373">
                <a:moveTo>
                  <a:pt x="0" y="0"/>
                </a:moveTo>
                <a:lnTo>
                  <a:pt x="2378373" y="0"/>
                </a:lnTo>
                <a:lnTo>
                  <a:pt x="2378373" y="2378374"/>
                </a:lnTo>
                <a:lnTo>
                  <a:pt x="0" y="2378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004489" y="1046988"/>
            <a:ext cx="3783940" cy="16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43241" y="2011004"/>
            <a:ext cx="7279062" cy="216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Detection, Not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43241" y="4370594"/>
            <a:ext cx="7279062" cy="97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RECOVERING always follows the break, so 99.95% of our positive class is a pump that has already failed.</a:t>
            </a:r>
          </a:p>
        </p:txBody>
      </p:sp>
      <p:sp>
        <p:nvSpPr>
          <p:cNvPr id="9" name="Freeform 9"/>
          <p:cNvSpPr/>
          <p:nvPr/>
        </p:nvSpPr>
        <p:spPr>
          <a:xfrm>
            <a:off x="12664021" y="6107392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243241" y="6229798"/>
            <a:ext cx="5290375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During an anomaly, 20 of 51 sensors move more than one standard deviation.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43241" y="6851733"/>
            <a:ext cx="6253191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sensor_07 sits 12.8 SD apart. The classes are almost separable, so expect very high scores.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43241" y="8317316"/>
            <a:ext cx="5290375" cy="64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 the hour before a failure, only 4 of 51 sensors shift by more than one SD.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3241" y="9056141"/>
            <a:ext cx="6430185" cy="64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True failure prediction is a much harder problem and the clear direction for future work.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8901" y="5650192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8901" y="7874337"/>
            <a:ext cx="3022225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9243241" y="5803697"/>
            <a:ext cx="349025" cy="235153"/>
          </a:xfrm>
          <a:custGeom>
            <a:avLst/>
            <a:gdLst/>
            <a:ahLst/>
            <a:cxnLst/>
            <a:rect l="l" t="t" r="r" b="b"/>
            <a:pathLst>
              <a:path w="349025" h="235153">
                <a:moveTo>
                  <a:pt x="0" y="0"/>
                </a:moveTo>
                <a:lnTo>
                  <a:pt x="349025" y="0"/>
                </a:lnTo>
                <a:lnTo>
                  <a:pt x="349025" y="235153"/>
                </a:lnTo>
                <a:lnTo>
                  <a:pt x="0" y="235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41" b="-1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243241" y="8008791"/>
            <a:ext cx="349025" cy="235153"/>
          </a:xfrm>
          <a:custGeom>
            <a:avLst/>
            <a:gdLst/>
            <a:ahLst/>
            <a:cxnLst/>
            <a:rect l="l" t="t" r="r" b="b"/>
            <a:pathLst>
              <a:path w="349025" h="235153">
                <a:moveTo>
                  <a:pt x="0" y="0"/>
                </a:moveTo>
                <a:lnTo>
                  <a:pt x="349025" y="0"/>
                </a:lnTo>
                <a:lnTo>
                  <a:pt x="349025" y="235154"/>
                </a:lnTo>
                <a:lnTo>
                  <a:pt x="0" y="235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41" b="-145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188720" y="3246120"/>
          <a:ext cx="6654800" cy="2921000"/>
        </p:xfrm>
        <a:graphic>
          <a:graphicData uri="http://schemas.openxmlformats.org/drawingml/2006/table">
            <a:tbl>
              <a:tblPr/>
              <a:tblGrid>
                <a:gridCol w="1868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Sensor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Before failure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During anomaly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2B2E6E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sensor_04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2.01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10.48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F5A62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5x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2B2E6E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sensor_00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1.48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9.75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F5A62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7x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2B2E6E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sensor_06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0.78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9.34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F5A62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12x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2B2E6E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sensor_07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0.63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>
                          <a:solidFill>
                            <a:srgbClr val="444444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12.77 SD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4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F5A62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20x</a:t>
                      </a:r>
                      <a:endParaRPr lang="en-US" sz="1100"/>
                    </a:p>
                  </a:txBody>
                  <a:tcPr marL="100584" marR="100584" marT="100584" marB="100584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9"/>
          <p:cNvSpPr txBox="1"/>
          <p:nvPr/>
        </p:nvSpPr>
        <p:spPr>
          <a:xfrm>
            <a:off x="1280160" y="6290310"/>
            <a:ext cx="649224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>
                <a:solidFill>
                  <a:srgbClr val="444444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The sensors that separate a broken pump most clearly are the ones that move least beforehand. These sensors react to failure, they do not anticipate it.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627632" y="7086600"/>
            <a:ext cx="5806440" cy="2844451"/>
            <a:chOff x="0" y="0"/>
            <a:chExt cx="7741920" cy="3792601"/>
          </a:xfrm>
        </p:grpSpPr>
        <p:sp>
          <p:nvSpPr>
            <p:cNvPr id="21" name="Freeform 21" descr="s6_eda.png"/>
            <p:cNvSpPr/>
            <p:nvPr/>
          </p:nvSpPr>
          <p:spPr>
            <a:xfrm>
              <a:off x="0" y="0"/>
              <a:ext cx="7741920" cy="3792601"/>
            </a:xfrm>
            <a:custGeom>
              <a:avLst/>
              <a:gdLst/>
              <a:ahLst/>
              <a:cxnLst/>
              <a:rect l="l" t="t" r="r" b="b"/>
              <a:pathLst>
                <a:path w="7741920" h="3792601">
                  <a:moveTo>
                    <a:pt x="0" y="0"/>
                  </a:moveTo>
                  <a:lnTo>
                    <a:pt x="7741920" y="0"/>
                  </a:lnTo>
                  <a:lnTo>
                    <a:pt x="7741920" y="3792601"/>
                  </a:lnTo>
                  <a:lnTo>
                    <a:pt x="0" y="3792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25628" y="-874287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42557" y="7204404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17259300" y="7908631"/>
            <a:ext cx="2378369" cy="2378369"/>
          </a:xfrm>
          <a:custGeom>
            <a:avLst/>
            <a:gdLst/>
            <a:ahLst/>
            <a:cxnLst/>
            <a:rect l="l" t="t" r="r" b="b"/>
            <a:pathLst>
              <a:path w="2378369" h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89943" y="3381111"/>
            <a:ext cx="11317253" cy="180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241" lvl="1" indent="-274120" algn="l">
              <a:lnSpc>
                <a:spcPts val="3555"/>
              </a:lnSpc>
              <a:buFont typeface="Arial"/>
              <a:buChar char="•"/>
            </a:pPr>
            <a:r>
              <a:rPr lang="en-US" sz="253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Four models: Decision Tree, Random Forest, Naive Bayes, ANN (MLP)</a:t>
            </a:r>
          </a:p>
          <a:p>
            <a:pPr marL="548241" lvl="1" indent="-274120" algn="l">
              <a:lnSpc>
                <a:spcPts val="3555"/>
              </a:lnSpc>
              <a:buFont typeface="Arial"/>
              <a:buChar char="•"/>
            </a:pPr>
            <a:r>
              <a:rPr lang="en-US" sz="253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row in the dataset is one minute of sensor readings from the pump + rolling 5-min mean/std</a:t>
            </a:r>
          </a:p>
          <a:p>
            <a:pPr marL="548241" lvl="1" indent="-274120" algn="l">
              <a:lnSpc>
                <a:spcPts val="3555"/>
              </a:lnSpc>
              <a:buFont typeface="Arial"/>
              <a:buChar char="•"/>
            </a:pPr>
            <a:r>
              <a:rPr lang="en-US" sz="253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Goal: classify NORMAL vs ANOMALY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4419" y="2150264"/>
            <a:ext cx="14385629" cy="105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9"/>
              </a:lnSpc>
            </a:pPr>
            <a:r>
              <a:rPr lang="en-US" sz="709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Classical ML models Overview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89943" y="5636462"/>
            <a:ext cx="14605794" cy="2633185"/>
            <a:chOff x="0" y="0"/>
            <a:chExt cx="19474392" cy="3510913"/>
          </a:xfrm>
        </p:grpSpPr>
        <p:sp>
          <p:nvSpPr>
            <p:cNvPr id="11" name="TextBox 11"/>
            <p:cNvSpPr txBox="1"/>
            <p:nvPr/>
          </p:nvSpPr>
          <p:spPr>
            <a:xfrm>
              <a:off x="241280" y="-76200"/>
              <a:ext cx="7303555" cy="833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6"/>
                </a:lnSpc>
              </a:pPr>
              <a:r>
                <a:rPr lang="en-US" sz="3806" b="1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Setup recap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33111"/>
              <a:ext cx="19474392" cy="2377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48241" lvl="1" indent="-274120" algn="l">
                <a:lnSpc>
                  <a:spcPts val="3555"/>
                </a:lnSpc>
                <a:buFont typeface="Arial"/>
                <a:buChar char="•"/>
              </a:pPr>
              <a:r>
                <a:rPr lang="en-US" sz="253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~93% of data is NORMAL → accuracy is misleading </a:t>
              </a:r>
            </a:p>
            <a:p>
              <a:pPr algn="l">
                <a:lnSpc>
                  <a:spcPts val="3555"/>
                </a:lnSpc>
              </a:pPr>
              <a:r>
                <a:rPr lang="en-US" sz="253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→ we optimize Precision/Recall/F1/ROC-AUC/PR-AUC instead</a:t>
              </a:r>
            </a:p>
            <a:p>
              <a:pPr marL="548241" lvl="1" indent="-274120" algn="l">
                <a:lnSpc>
                  <a:spcPts val="3555"/>
                </a:lnSpc>
                <a:buFont typeface="Arial"/>
                <a:buChar char="•"/>
              </a:pPr>
              <a:r>
                <a:rPr lang="en-US" sz="253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Chronological split: train Apr–Jun, test Jul–Aug (no future leakage)</a:t>
              </a:r>
            </a:p>
            <a:p>
              <a:pPr marL="548241" lvl="1" indent="-274120" algn="l">
                <a:lnSpc>
                  <a:spcPts val="3555"/>
                </a:lnSpc>
                <a:buFont typeface="Arial"/>
                <a:buChar char="•"/>
              </a:pPr>
              <a:r>
                <a:rPr lang="en-US" sz="253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Class weighting is used on all 4 models to counter the imbalance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79134" y="-327720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708866" y="7337145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64729" y="4958746"/>
            <a:ext cx="6795706" cy="3447969"/>
          </a:xfrm>
          <a:custGeom>
            <a:avLst/>
            <a:gdLst/>
            <a:ahLst/>
            <a:cxnLst/>
            <a:rect l="l" t="t" r="r" b="b"/>
            <a:pathLst>
              <a:path w="6795706" h="3447969">
                <a:moveTo>
                  <a:pt x="0" y="0"/>
                </a:moveTo>
                <a:lnTo>
                  <a:pt x="6795706" y="0"/>
                </a:lnTo>
                <a:lnTo>
                  <a:pt x="6795706" y="3447968"/>
                </a:lnTo>
                <a:lnTo>
                  <a:pt x="0" y="34479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530090" y="7907655"/>
            <a:ext cx="689610" cy="447675"/>
            <a:chOff x="0" y="0"/>
            <a:chExt cx="919480" cy="596900"/>
          </a:xfrm>
        </p:grpSpPr>
        <p:sp>
          <p:nvSpPr>
            <p:cNvPr id="8" name="Freeform 8"/>
            <p:cNvSpPr/>
            <p:nvPr/>
          </p:nvSpPr>
          <p:spPr>
            <a:xfrm>
              <a:off x="24243" y="50726"/>
              <a:ext cx="862712" cy="507968"/>
            </a:xfrm>
            <a:custGeom>
              <a:avLst/>
              <a:gdLst/>
              <a:ahLst/>
              <a:cxnLst/>
              <a:rect l="l" t="t" r="r" b="b"/>
              <a:pathLst>
                <a:path w="862712" h="507968">
                  <a:moveTo>
                    <a:pt x="26557" y="7694"/>
                  </a:moveTo>
                  <a:cubicBezTo>
                    <a:pt x="576467" y="7694"/>
                    <a:pt x="791097" y="-26596"/>
                    <a:pt x="844437" y="49604"/>
                  </a:cubicBezTo>
                  <a:cubicBezTo>
                    <a:pt x="900317" y="130884"/>
                    <a:pt x="817767" y="438224"/>
                    <a:pt x="735217" y="494104"/>
                  </a:cubicBezTo>
                  <a:cubicBezTo>
                    <a:pt x="670447" y="538554"/>
                    <a:pt x="558687" y="462354"/>
                    <a:pt x="455817" y="457274"/>
                  </a:cubicBezTo>
                  <a:cubicBezTo>
                    <a:pt x="330087" y="450924"/>
                    <a:pt x="110377" y="538554"/>
                    <a:pt x="36717" y="468704"/>
                  </a:cubicBezTo>
                  <a:cubicBezTo>
                    <a:pt x="-39483" y="396314"/>
                    <a:pt x="26557" y="7694"/>
                    <a:pt x="26557" y="7694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4100" y="7867650"/>
            <a:ext cx="1024890" cy="469582"/>
            <a:chOff x="0" y="0"/>
            <a:chExt cx="1366520" cy="626110"/>
          </a:xfrm>
        </p:grpSpPr>
        <p:sp>
          <p:nvSpPr>
            <p:cNvPr id="10" name="Freeform 10"/>
            <p:cNvSpPr/>
            <p:nvPr/>
          </p:nvSpPr>
          <p:spPr>
            <a:xfrm>
              <a:off x="36702" y="50800"/>
              <a:ext cx="1295037" cy="524024"/>
            </a:xfrm>
            <a:custGeom>
              <a:avLst/>
              <a:gdLst/>
              <a:ahLst/>
              <a:cxnLst/>
              <a:rect l="l" t="t" r="r" b="b"/>
              <a:pathLst>
                <a:path w="1295037" h="524024">
                  <a:moveTo>
                    <a:pt x="86488" y="0"/>
                  </a:moveTo>
                  <a:cubicBezTo>
                    <a:pt x="439548" y="52070"/>
                    <a:pt x="499238" y="57150"/>
                    <a:pt x="595758" y="59690"/>
                  </a:cubicBezTo>
                  <a:cubicBezTo>
                    <a:pt x="746888" y="63500"/>
                    <a:pt x="1060578" y="-39370"/>
                    <a:pt x="1172338" y="46990"/>
                  </a:cubicBezTo>
                  <a:cubicBezTo>
                    <a:pt x="1271398" y="124460"/>
                    <a:pt x="1323468" y="426720"/>
                    <a:pt x="1279018" y="491490"/>
                  </a:cubicBezTo>
                  <a:cubicBezTo>
                    <a:pt x="1249808" y="533400"/>
                    <a:pt x="1164718" y="509270"/>
                    <a:pt x="1097408" y="514350"/>
                  </a:cubicBezTo>
                  <a:cubicBezTo>
                    <a:pt x="1011048" y="521970"/>
                    <a:pt x="914528" y="525780"/>
                    <a:pt x="802768" y="523240"/>
                  </a:cubicBezTo>
                  <a:cubicBezTo>
                    <a:pt x="654178" y="521970"/>
                    <a:pt x="430658" y="509270"/>
                    <a:pt x="285878" y="495300"/>
                  </a:cubicBezTo>
                  <a:cubicBezTo>
                    <a:pt x="180468" y="485140"/>
                    <a:pt x="57278" y="514350"/>
                    <a:pt x="14098" y="455930"/>
                  </a:cubicBezTo>
                  <a:cubicBezTo>
                    <a:pt x="-41782" y="381000"/>
                    <a:pt x="86488" y="0"/>
                    <a:pt x="86488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80632" y="4061460"/>
            <a:ext cx="326708" cy="324803"/>
            <a:chOff x="0" y="0"/>
            <a:chExt cx="435610" cy="433070"/>
          </a:xfrm>
        </p:grpSpPr>
        <p:sp>
          <p:nvSpPr>
            <p:cNvPr id="12" name="Freeform 12"/>
            <p:cNvSpPr/>
            <p:nvPr/>
          </p:nvSpPr>
          <p:spPr>
            <a:xfrm>
              <a:off x="50800" y="55136"/>
              <a:ext cx="334043" cy="327134"/>
            </a:xfrm>
            <a:custGeom>
              <a:avLst/>
              <a:gdLst/>
              <a:ahLst/>
              <a:cxnLst/>
              <a:rect l="l" t="t" r="r" b="b"/>
              <a:pathLst>
                <a:path w="334043" h="327134">
                  <a:moveTo>
                    <a:pt x="0" y="319514"/>
                  </a:moveTo>
                  <a:cubicBezTo>
                    <a:pt x="328930" y="-4336"/>
                    <a:pt x="332740" y="-3066"/>
                    <a:pt x="334010" y="744"/>
                  </a:cubicBezTo>
                  <a:cubicBezTo>
                    <a:pt x="337820" y="22334"/>
                    <a:pt x="7620" y="327134"/>
                    <a:pt x="7620" y="327134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8632774" y="2354546"/>
            <a:ext cx="4813540" cy="3738630"/>
          </a:xfrm>
          <a:custGeom>
            <a:avLst/>
            <a:gdLst/>
            <a:ahLst/>
            <a:cxnLst/>
            <a:rect l="l" t="t" r="r" b="b"/>
            <a:pathLst>
              <a:path w="4813540" h="3738630">
                <a:moveTo>
                  <a:pt x="0" y="0"/>
                </a:moveTo>
                <a:lnTo>
                  <a:pt x="4813539" y="0"/>
                </a:lnTo>
                <a:lnTo>
                  <a:pt x="4813539" y="3738630"/>
                </a:lnTo>
                <a:lnTo>
                  <a:pt x="0" y="3738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01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444233" y="6417346"/>
            <a:ext cx="8799507" cy="3370191"/>
          </a:xfrm>
          <a:custGeom>
            <a:avLst/>
            <a:gdLst/>
            <a:ahLst/>
            <a:cxnLst/>
            <a:rect l="l" t="t" r="r" b="b"/>
            <a:pathLst>
              <a:path w="8799507" h="3370191">
                <a:moveTo>
                  <a:pt x="0" y="0"/>
                </a:moveTo>
                <a:lnTo>
                  <a:pt x="8799507" y="0"/>
                </a:lnTo>
                <a:lnTo>
                  <a:pt x="8799507" y="3370191"/>
                </a:lnTo>
                <a:lnTo>
                  <a:pt x="0" y="337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5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43361" y="1066800"/>
            <a:ext cx="13601279" cy="11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6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in detail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9193" y="3346763"/>
            <a:ext cx="6601243" cy="7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Single tree, max depth 10, class-weighted</a:t>
            </a:r>
          </a:p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Fast, fully interpretable baseline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9193" y="2506512"/>
            <a:ext cx="5214156" cy="5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3240" b="1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1- Decision Tree</a:t>
            </a:r>
          </a:p>
        </p:txBody>
      </p:sp>
    </p:spTree>
  </p:cSld>
  <p:clrMapOvr>
    <a:masterClrMapping/>
  </p:clrMapOvr>
  <p:transition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79134" y="-327720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708866" y="7337145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713824" y="2725964"/>
            <a:ext cx="4329366" cy="3370191"/>
          </a:xfrm>
          <a:custGeom>
            <a:avLst/>
            <a:gdLst/>
            <a:ahLst/>
            <a:cxnLst/>
            <a:rect l="l" t="t" r="r" b="b"/>
            <a:pathLst>
              <a:path w="4329366" h="3370191">
                <a:moveTo>
                  <a:pt x="0" y="0"/>
                </a:moveTo>
                <a:lnTo>
                  <a:pt x="4329366" y="0"/>
                </a:lnTo>
                <a:lnTo>
                  <a:pt x="4329366" y="3370191"/>
                </a:lnTo>
                <a:lnTo>
                  <a:pt x="0" y="3370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1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643436" y="6479337"/>
            <a:ext cx="8799507" cy="3370191"/>
          </a:xfrm>
          <a:custGeom>
            <a:avLst/>
            <a:gdLst/>
            <a:ahLst/>
            <a:cxnLst/>
            <a:rect l="l" t="t" r="r" b="b"/>
            <a:pathLst>
              <a:path w="8799507" h="3370191">
                <a:moveTo>
                  <a:pt x="0" y="0"/>
                </a:moveTo>
                <a:lnTo>
                  <a:pt x="8799507" y="0"/>
                </a:lnTo>
                <a:lnTo>
                  <a:pt x="8799507" y="3370190"/>
                </a:lnTo>
                <a:lnTo>
                  <a:pt x="0" y="3370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5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80037" y="5210114"/>
            <a:ext cx="7334797" cy="3721490"/>
          </a:xfrm>
          <a:custGeom>
            <a:avLst/>
            <a:gdLst/>
            <a:ahLst/>
            <a:cxnLst/>
            <a:rect l="l" t="t" r="r" b="b"/>
            <a:pathLst>
              <a:path w="7334797" h="3721490">
                <a:moveTo>
                  <a:pt x="0" y="0"/>
                </a:moveTo>
                <a:lnTo>
                  <a:pt x="7334797" y="0"/>
                </a:lnTo>
                <a:lnTo>
                  <a:pt x="7334797" y="3721490"/>
                </a:lnTo>
                <a:lnTo>
                  <a:pt x="0" y="3721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236661" y="2697012"/>
            <a:ext cx="4866990" cy="3230061"/>
          </a:xfrm>
          <a:custGeom>
            <a:avLst/>
            <a:gdLst/>
            <a:ahLst/>
            <a:cxnLst/>
            <a:rect l="l" t="t" r="r" b="b"/>
            <a:pathLst>
              <a:path w="4866990" h="3230061">
                <a:moveTo>
                  <a:pt x="0" y="0"/>
                </a:moveTo>
                <a:lnTo>
                  <a:pt x="4866990" y="0"/>
                </a:lnTo>
                <a:lnTo>
                  <a:pt x="4866990" y="3230061"/>
                </a:lnTo>
                <a:lnTo>
                  <a:pt x="0" y="3230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43361" y="1066800"/>
            <a:ext cx="13601279" cy="11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6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in detail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9193" y="3346763"/>
            <a:ext cx="6601243" cy="114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200 trees voting together (ensemble)</a:t>
            </a:r>
          </a:p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 b="1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Best-performing model overall</a:t>
            </a:r>
          </a:p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Top signal: </a:t>
            </a:r>
            <a:r>
              <a:rPr lang="en-US" sz="2299" b="1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sensor_00</a:t>
            </a: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and its rolling stats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9193" y="2506512"/>
            <a:ext cx="6601243" cy="5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3240" b="1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2- Random Forest</a:t>
            </a:r>
          </a:p>
        </p:txBody>
      </p:sp>
    </p:spTree>
  </p:cSld>
  <p:clrMapOvr>
    <a:masterClrMapping/>
  </p:clrMapOvr>
  <p:transition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79134" y="-327720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708866" y="7337145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0240" y="5301815"/>
            <a:ext cx="7125877" cy="3531408"/>
          </a:xfrm>
          <a:custGeom>
            <a:avLst/>
            <a:gdLst/>
            <a:ahLst/>
            <a:cxnLst/>
            <a:rect l="l" t="t" r="r" b="b"/>
            <a:pathLst>
              <a:path w="7125877" h="3531408">
                <a:moveTo>
                  <a:pt x="0" y="0"/>
                </a:moveTo>
                <a:lnTo>
                  <a:pt x="7125877" y="0"/>
                </a:lnTo>
                <a:lnTo>
                  <a:pt x="7125877" y="3531409"/>
                </a:lnTo>
                <a:lnTo>
                  <a:pt x="0" y="3531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086930" y="2226253"/>
            <a:ext cx="4365708" cy="3370191"/>
          </a:xfrm>
          <a:custGeom>
            <a:avLst/>
            <a:gdLst/>
            <a:ahLst/>
            <a:cxnLst/>
            <a:rect l="l" t="t" r="r" b="b"/>
            <a:pathLst>
              <a:path w="4365708" h="3370191">
                <a:moveTo>
                  <a:pt x="0" y="0"/>
                </a:moveTo>
                <a:lnTo>
                  <a:pt x="4365709" y="0"/>
                </a:lnTo>
                <a:lnTo>
                  <a:pt x="4365709" y="3370191"/>
                </a:lnTo>
                <a:lnTo>
                  <a:pt x="0" y="337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993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3361" y="1066800"/>
            <a:ext cx="13601279" cy="11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6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in detail</a:t>
            </a:r>
          </a:p>
        </p:txBody>
      </p:sp>
      <p:sp>
        <p:nvSpPr>
          <p:cNvPr id="10" name="Freeform 10"/>
          <p:cNvSpPr/>
          <p:nvPr/>
        </p:nvSpPr>
        <p:spPr>
          <a:xfrm>
            <a:off x="8987165" y="5888109"/>
            <a:ext cx="8769467" cy="3370191"/>
          </a:xfrm>
          <a:custGeom>
            <a:avLst/>
            <a:gdLst/>
            <a:ahLst/>
            <a:cxnLst/>
            <a:rect l="l" t="t" r="r" b="b"/>
            <a:pathLst>
              <a:path w="8769467" h="3370191">
                <a:moveTo>
                  <a:pt x="0" y="0"/>
                </a:moveTo>
                <a:lnTo>
                  <a:pt x="8769467" y="0"/>
                </a:lnTo>
                <a:lnTo>
                  <a:pt x="8769467" y="3370191"/>
                </a:lnTo>
                <a:lnTo>
                  <a:pt x="0" y="337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280" r="-7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359193" y="3346763"/>
            <a:ext cx="7627972" cy="152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Assumes all sensors are independent (known to be false- sensors are correlated)</a:t>
            </a:r>
          </a:p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Included deliberately as a contrast- </a:t>
            </a:r>
            <a:r>
              <a:rPr lang="en-US" sz="2299" b="1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weakest result</a:t>
            </a: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confirms sensor correlations matter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193" y="2506512"/>
            <a:ext cx="6601243" cy="5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3240" b="1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3- Naive Bayes</a:t>
            </a:r>
          </a:p>
        </p:txBody>
      </p:sp>
    </p:spTree>
  </p:cSld>
  <p:clrMapOvr>
    <a:masterClrMapping/>
  </p:clrMapOvr>
  <p:transition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79134" y="-327720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708866" y="7337145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6009" y="5253798"/>
            <a:ext cx="6674427" cy="4166694"/>
          </a:xfrm>
          <a:custGeom>
            <a:avLst/>
            <a:gdLst/>
            <a:ahLst/>
            <a:cxnLst/>
            <a:rect l="l" t="t" r="r" b="b"/>
            <a:pathLst>
              <a:path w="6674427" h="4166694">
                <a:moveTo>
                  <a:pt x="0" y="0"/>
                </a:moveTo>
                <a:lnTo>
                  <a:pt x="6674426" y="0"/>
                </a:lnTo>
                <a:lnTo>
                  <a:pt x="6674426" y="4166694"/>
                </a:lnTo>
                <a:lnTo>
                  <a:pt x="0" y="416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165353" y="2226253"/>
            <a:ext cx="4379813" cy="3370191"/>
          </a:xfrm>
          <a:custGeom>
            <a:avLst/>
            <a:gdLst/>
            <a:ahLst/>
            <a:cxnLst/>
            <a:rect l="l" t="t" r="r" b="b"/>
            <a:pathLst>
              <a:path w="4379813" h="3370191">
                <a:moveTo>
                  <a:pt x="0" y="0"/>
                </a:moveTo>
                <a:lnTo>
                  <a:pt x="4379812" y="0"/>
                </a:lnTo>
                <a:lnTo>
                  <a:pt x="4379812" y="3370191"/>
                </a:lnTo>
                <a:lnTo>
                  <a:pt x="0" y="337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984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59193" y="3346763"/>
            <a:ext cx="6601243" cy="152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Small neural net: 2 hidden layers, dropout, early stopping</a:t>
            </a:r>
          </a:p>
          <a:p>
            <a:pPr marL="496460" lvl="1" indent="-248230" algn="l">
              <a:lnSpc>
                <a:spcPts val="3012"/>
              </a:lnSpc>
              <a:buFont typeface="Arial"/>
              <a:buChar char="•"/>
            </a:pPr>
            <a:r>
              <a:rPr lang="en-US" sz="22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Nearly matches Random Forest without being told sensor relationships explicitly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9193" y="2506512"/>
            <a:ext cx="6601243" cy="5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3240" b="1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4- ANN (MLP)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43361" y="1066800"/>
            <a:ext cx="13601279" cy="11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6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in detail</a:t>
            </a:r>
          </a:p>
        </p:txBody>
      </p:sp>
      <p:sp>
        <p:nvSpPr>
          <p:cNvPr id="12" name="Freeform 12"/>
          <p:cNvSpPr/>
          <p:nvPr/>
        </p:nvSpPr>
        <p:spPr>
          <a:xfrm>
            <a:off x="8165353" y="6050302"/>
            <a:ext cx="8780351" cy="3370191"/>
          </a:xfrm>
          <a:custGeom>
            <a:avLst/>
            <a:gdLst/>
            <a:ahLst/>
            <a:cxnLst/>
            <a:rect l="l" t="t" r="r" b="b"/>
            <a:pathLst>
              <a:path w="8780351" h="3370191">
                <a:moveTo>
                  <a:pt x="0" y="0"/>
                </a:moveTo>
                <a:lnTo>
                  <a:pt x="8780351" y="0"/>
                </a:lnTo>
                <a:lnTo>
                  <a:pt x="8780351" y="3370190"/>
                </a:lnTo>
                <a:lnTo>
                  <a:pt x="0" y="33701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105" t="-85" b="-8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241" y="415799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25628" y="-874287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812311" y="5505992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8464774" y="3137049"/>
            <a:ext cx="0" cy="54632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17259300" y="7908631"/>
            <a:ext cx="2378369" cy="2378369"/>
          </a:xfrm>
          <a:custGeom>
            <a:avLst/>
            <a:gdLst/>
            <a:ahLst/>
            <a:cxnLst/>
            <a:rect l="l" t="t" r="r" b="b"/>
            <a:pathLst>
              <a:path w="2378369" h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99136" y="1559776"/>
            <a:ext cx="13045516" cy="84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2"/>
              </a:lnSpc>
            </a:pPr>
            <a:r>
              <a:rPr lang="en-US" sz="57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Long Short-Term Memory (LSTM)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8733" y="3260301"/>
            <a:ext cx="7122353" cy="379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461" lvl="1" indent="-224231" algn="l">
              <a:lnSpc>
                <a:spcPts val="2721"/>
              </a:lnSpc>
              <a:buFont typeface="Arial"/>
              <a:buChar char="•"/>
            </a:pPr>
            <a:r>
              <a:rPr lang="en-US" sz="2077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 earlier model (DT/RF/NB/ANN) judges one minute of sensor data at a time</a:t>
            </a:r>
          </a:p>
          <a:p>
            <a:pPr marL="448461" lvl="1" indent="-224231" algn="l">
              <a:lnSpc>
                <a:spcPts val="2721"/>
              </a:lnSpc>
              <a:buFont typeface="Arial"/>
              <a:buChar char="•"/>
            </a:pPr>
            <a:r>
              <a:rPr lang="en-US" sz="2077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LSTM instead reads a 20-minute rolling window of all 51 sensors → shape (20, 51)</a:t>
            </a:r>
          </a:p>
          <a:p>
            <a:pPr marL="448461" lvl="1" indent="-224231" algn="l">
              <a:lnSpc>
                <a:spcPts val="2721"/>
              </a:lnSpc>
              <a:buFont typeface="Arial"/>
              <a:buChar char="•"/>
            </a:pPr>
            <a:r>
              <a:rPr lang="en-US" sz="2077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Windows only look backward in time — no future leakage</a:t>
            </a:r>
          </a:p>
          <a:p>
            <a:pPr marL="448461" lvl="1" indent="-224231" algn="l">
              <a:lnSpc>
                <a:spcPts val="2721"/>
              </a:lnSpc>
              <a:buFont typeface="Arial"/>
              <a:buChar char="•"/>
            </a:pPr>
            <a:r>
              <a:rPr lang="en-US" sz="2077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Same Apr–Jun train / Jul–Aug test split as every other model — directly comparable</a:t>
            </a:r>
          </a:p>
          <a:p>
            <a:pPr marL="448461" lvl="1" indent="-224231" algn="l">
              <a:lnSpc>
                <a:spcPts val="2721"/>
              </a:lnSpc>
              <a:buFont typeface="Arial"/>
              <a:buChar char="•"/>
            </a:pPr>
            <a:r>
              <a:rPr lang="en-US" sz="2077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Anomalies are rare → undersample majority NORMAL windows in training only; test set stays real-world imbalanced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4029" y="572265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92043" y="6813978"/>
            <a:ext cx="8167257" cy="794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⟶ test stays at the real imbalance, only training was rebalanced.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807674" y="3307926"/>
            <a:ext cx="8990865" cy="3234401"/>
          </a:xfrm>
          <a:custGeom>
            <a:avLst/>
            <a:gdLst/>
            <a:ahLst/>
            <a:cxnLst/>
            <a:rect l="l" t="t" r="r" b="b"/>
            <a:pathLst>
              <a:path w="8990865" h="3234401">
                <a:moveTo>
                  <a:pt x="0" y="0"/>
                </a:moveTo>
                <a:lnTo>
                  <a:pt x="8990865" y="0"/>
                </a:lnTo>
                <a:lnTo>
                  <a:pt x="8990865" y="3234402"/>
                </a:lnTo>
                <a:lnTo>
                  <a:pt x="0" y="32344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6760" y="281435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02286" y="655471"/>
            <a:ext cx="6169617" cy="4043951"/>
          </a:xfrm>
          <a:custGeom>
            <a:avLst/>
            <a:gdLst/>
            <a:ahLst/>
            <a:cxnLst/>
            <a:rect l="l" t="t" r="r" b="b"/>
            <a:pathLst>
              <a:path w="6169617" h="4043951">
                <a:moveTo>
                  <a:pt x="0" y="0"/>
                </a:moveTo>
                <a:lnTo>
                  <a:pt x="6169617" y="0"/>
                </a:lnTo>
                <a:lnTo>
                  <a:pt x="6169617" y="4043951"/>
                </a:lnTo>
                <a:lnTo>
                  <a:pt x="0" y="40439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234449" y="4936643"/>
            <a:ext cx="6305292" cy="4043951"/>
          </a:xfrm>
          <a:custGeom>
            <a:avLst/>
            <a:gdLst/>
            <a:ahLst/>
            <a:cxnLst/>
            <a:rect l="l" t="t" r="r" b="b"/>
            <a:pathLst>
              <a:path w="6305292" h="4043951">
                <a:moveTo>
                  <a:pt x="0" y="0"/>
                </a:moveTo>
                <a:lnTo>
                  <a:pt x="6305291" y="0"/>
                </a:lnTo>
                <a:lnTo>
                  <a:pt x="6305291" y="4043950"/>
                </a:lnTo>
                <a:lnTo>
                  <a:pt x="0" y="4043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5921" t="-57" b="-5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809484" y="6426848"/>
            <a:ext cx="5856177" cy="3655879"/>
            <a:chOff x="0" y="0"/>
            <a:chExt cx="7808236" cy="48745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08236" cy="4874506"/>
            </a:xfrm>
            <a:custGeom>
              <a:avLst/>
              <a:gdLst/>
              <a:ahLst/>
              <a:cxnLst/>
              <a:rect l="l" t="t" r="r" b="b"/>
              <a:pathLst>
                <a:path w="7808236" h="4874506">
                  <a:moveTo>
                    <a:pt x="0" y="0"/>
                  </a:moveTo>
                  <a:lnTo>
                    <a:pt x="7808236" y="0"/>
                  </a:lnTo>
                  <a:lnTo>
                    <a:pt x="7808236" y="4874506"/>
                  </a:lnTo>
                  <a:lnTo>
                    <a:pt x="0" y="4874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015074" y="1383494"/>
              <a:ext cx="643364" cy="523175"/>
              <a:chOff x="0" y="0"/>
              <a:chExt cx="693420" cy="5638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7015" y="50800"/>
                <a:ext cx="636893" cy="520860"/>
              </a:xfrm>
              <a:custGeom>
                <a:avLst/>
                <a:gdLst/>
                <a:ahLst/>
                <a:cxnLst/>
                <a:rect l="l" t="t" r="r" b="b"/>
                <a:pathLst>
                  <a:path w="636893" h="520860">
                    <a:moveTo>
                      <a:pt x="36325" y="0"/>
                    </a:moveTo>
                    <a:cubicBezTo>
                      <a:pt x="564645" y="6350"/>
                      <a:pt x="606555" y="-8890"/>
                      <a:pt x="624335" y="19050"/>
                    </a:cubicBezTo>
                    <a:cubicBezTo>
                      <a:pt x="662435" y="74930"/>
                      <a:pt x="610365" y="387350"/>
                      <a:pt x="515115" y="462280"/>
                    </a:cubicBezTo>
                    <a:cubicBezTo>
                      <a:pt x="416055" y="539750"/>
                      <a:pt x="112525" y="541020"/>
                      <a:pt x="33785" y="462280"/>
                    </a:cubicBezTo>
                    <a:cubicBezTo>
                      <a:pt x="-43685" y="384810"/>
                      <a:pt x="36325" y="0"/>
                      <a:pt x="36325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46421" y="1383494"/>
              <a:ext cx="556168" cy="539672"/>
              <a:chOff x="0" y="0"/>
              <a:chExt cx="599440" cy="5816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6549" y="50800"/>
                <a:ext cx="541714" cy="528446"/>
              </a:xfrm>
              <a:custGeom>
                <a:avLst/>
                <a:gdLst/>
                <a:ahLst/>
                <a:cxnLst/>
                <a:rect l="l" t="t" r="r" b="b"/>
                <a:pathLst>
                  <a:path w="541714" h="528446">
                    <a:moveTo>
                      <a:pt x="61081" y="0"/>
                    </a:moveTo>
                    <a:cubicBezTo>
                      <a:pt x="594481" y="101600"/>
                      <a:pt x="580511" y="405130"/>
                      <a:pt x="500501" y="478790"/>
                    </a:cubicBezTo>
                    <a:cubicBezTo>
                      <a:pt x="417951" y="553720"/>
                      <a:pt x="96641" y="541020"/>
                      <a:pt x="24251" y="459740"/>
                    </a:cubicBezTo>
                    <a:cubicBezTo>
                      <a:pt x="-46869" y="379730"/>
                      <a:pt x="61081" y="0"/>
                      <a:pt x="61081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469520" y="1410595"/>
              <a:ext cx="622154" cy="553812"/>
              <a:chOff x="0" y="0"/>
              <a:chExt cx="670560" cy="596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7967" y="43923"/>
                <a:ext cx="644218" cy="522499"/>
              </a:xfrm>
              <a:custGeom>
                <a:avLst/>
                <a:gdLst/>
                <a:ahLst/>
                <a:cxnLst/>
                <a:rect l="l" t="t" r="r" b="b"/>
                <a:pathLst>
                  <a:path w="644218" h="522499">
                    <a:moveTo>
                      <a:pt x="22833" y="9417"/>
                    </a:moveTo>
                    <a:cubicBezTo>
                      <a:pt x="302233" y="11957"/>
                      <a:pt x="524483" y="-29953"/>
                      <a:pt x="591793" y="44977"/>
                    </a:cubicBezTo>
                    <a:cubicBezTo>
                      <a:pt x="664183" y="124987"/>
                      <a:pt x="660373" y="436137"/>
                      <a:pt x="587983" y="502177"/>
                    </a:cubicBezTo>
                    <a:cubicBezTo>
                      <a:pt x="520673" y="563137"/>
                      <a:pt x="306043" y="467887"/>
                      <a:pt x="203173" y="464077"/>
                    </a:cubicBezTo>
                    <a:cubicBezTo>
                      <a:pt x="133323" y="462807"/>
                      <a:pt x="64743" y="505987"/>
                      <a:pt x="27913" y="470427"/>
                    </a:cubicBezTo>
                    <a:cubicBezTo>
                      <a:pt x="-31777" y="414547"/>
                      <a:pt x="22833" y="9417"/>
                      <a:pt x="22833" y="9417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716563" y="3206359"/>
              <a:ext cx="1081700" cy="527888"/>
              <a:chOff x="0" y="0"/>
              <a:chExt cx="1165860" cy="5689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3761" y="50800"/>
                <a:ext cx="1061584" cy="561831"/>
              </a:xfrm>
              <a:custGeom>
                <a:avLst/>
                <a:gdLst/>
                <a:ahLst/>
                <a:cxnLst/>
                <a:rect l="l" t="t" r="r" b="b"/>
                <a:pathLst>
                  <a:path w="1061584" h="561831">
                    <a:moveTo>
                      <a:pt x="47199" y="0"/>
                    </a:moveTo>
                    <a:cubicBezTo>
                      <a:pt x="1173689" y="110490"/>
                      <a:pt x="1115269" y="378460"/>
                      <a:pt x="1007319" y="467360"/>
                    </a:cubicBezTo>
                    <a:cubicBezTo>
                      <a:pt x="848569" y="594360"/>
                      <a:pt x="166579" y="594360"/>
                      <a:pt x="37039" y="461010"/>
                    </a:cubicBezTo>
                    <a:cubicBezTo>
                      <a:pt x="-51861" y="369570"/>
                      <a:pt x="47199" y="0"/>
                      <a:pt x="47199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831651" y="3291198"/>
              <a:ext cx="978008" cy="524353"/>
              <a:chOff x="0" y="0"/>
              <a:chExt cx="1054100" cy="5651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6269" y="52070"/>
                <a:ext cx="972782" cy="549078"/>
              </a:xfrm>
              <a:custGeom>
                <a:avLst/>
                <a:gdLst/>
                <a:ahLst/>
                <a:cxnLst/>
                <a:rect l="l" t="t" r="r" b="b"/>
                <a:pathLst>
                  <a:path w="972782" h="549078">
                    <a:moveTo>
                      <a:pt x="34531" y="0"/>
                    </a:moveTo>
                    <a:cubicBezTo>
                      <a:pt x="1063231" y="87630"/>
                      <a:pt x="1025131" y="363220"/>
                      <a:pt x="924801" y="452120"/>
                    </a:cubicBezTo>
                    <a:cubicBezTo>
                      <a:pt x="785101" y="575310"/>
                      <a:pt x="167881" y="584200"/>
                      <a:pt x="42151" y="461010"/>
                    </a:cubicBezTo>
                    <a:cubicBezTo>
                      <a:pt x="-48019" y="373380"/>
                      <a:pt x="34531" y="0"/>
                      <a:pt x="34531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028700" y="1643236"/>
            <a:ext cx="6486189" cy="236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568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LSTM Model &amp; Headline Results</a:t>
            </a:r>
          </a:p>
          <a:p>
            <a:pPr algn="l">
              <a:lnSpc>
                <a:spcPts val="5967"/>
              </a:lnSpc>
            </a:pPr>
            <a:endParaRPr lang="en-US" sz="5683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2310" y="3956902"/>
            <a:ext cx="5988935" cy="246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07" lvl="1" indent="-271453" algn="l">
              <a:lnSpc>
                <a:spcPts val="3294"/>
              </a:lnSpc>
              <a:buFont typeface="Arial"/>
              <a:buChar char="•"/>
            </a:pPr>
            <a:r>
              <a:rPr lang="en-US" sz="2514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2 stacked LSTM layers (64 → 32 units) → dense head → sigmoid output</a:t>
            </a:r>
          </a:p>
          <a:p>
            <a:pPr marL="542907" lvl="1" indent="-271453" algn="l">
              <a:lnSpc>
                <a:spcPts val="3294"/>
              </a:lnSpc>
              <a:buFont typeface="Arial"/>
              <a:buChar char="•"/>
            </a:pPr>
            <a:r>
              <a:rPr lang="en-US" sz="2514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Class-weighted training + early stopping on validation ROC-AUC</a:t>
            </a:r>
          </a:p>
          <a:p>
            <a:pPr marL="542907" lvl="1" indent="-271453" algn="l">
              <a:lnSpc>
                <a:spcPts val="3294"/>
              </a:lnSpc>
              <a:buFont typeface="Arial"/>
              <a:buChar char="•"/>
            </a:pPr>
            <a:r>
              <a:rPr lang="en-US" sz="2514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results: </a:t>
            </a:r>
          </a:p>
        </p:txBody>
      </p:sp>
    </p:spTree>
  </p:cSld>
  <p:clrMapOvr>
    <a:masterClrMapping/>
  </p:clrMapOvr>
  <p:transition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6760" y="281435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22182" y="3636204"/>
            <a:ext cx="16643635" cy="4291755"/>
          </a:xfrm>
          <a:custGeom>
            <a:avLst/>
            <a:gdLst/>
            <a:ahLst/>
            <a:cxnLst/>
            <a:rect l="l" t="t" r="r" b="b"/>
            <a:pathLst>
              <a:path w="16643635" h="4291755">
                <a:moveTo>
                  <a:pt x="0" y="0"/>
                </a:moveTo>
                <a:lnTo>
                  <a:pt x="16643636" y="0"/>
                </a:lnTo>
                <a:lnTo>
                  <a:pt x="16643636" y="4291755"/>
                </a:lnTo>
                <a:lnTo>
                  <a:pt x="0" y="4291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643236"/>
            <a:ext cx="6486189" cy="236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568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LSTM Model &amp; Headline Results</a:t>
            </a:r>
          </a:p>
          <a:p>
            <a:pPr algn="l">
              <a:lnSpc>
                <a:spcPts val="5967"/>
              </a:lnSpc>
            </a:pPr>
            <a:endParaRPr lang="en-US" sz="5683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</p:spTree>
  </p:cSld>
  <p:clrMapOvr>
    <a:masterClrMapping/>
  </p:clrMapOvr>
  <p:transition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9328" y="347388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9561" y="222838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7"/>
                </a:lnTo>
                <a:lnTo>
                  <a:pt x="0" y="462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956673" y="609429"/>
            <a:ext cx="8428157" cy="4166729"/>
          </a:xfrm>
          <a:custGeom>
            <a:avLst/>
            <a:gdLst/>
            <a:ahLst/>
            <a:cxnLst/>
            <a:rect l="l" t="t" r="r" b="b"/>
            <a:pathLst>
              <a:path w="8428157" h="4166729">
                <a:moveTo>
                  <a:pt x="0" y="0"/>
                </a:moveTo>
                <a:lnTo>
                  <a:pt x="8428157" y="0"/>
                </a:lnTo>
                <a:lnTo>
                  <a:pt x="8428157" y="4166730"/>
                </a:lnTo>
                <a:lnTo>
                  <a:pt x="0" y="41667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6868775" y="1022985"/>
            <a:ext cx="302895" cy="459105"/>
            <a:chOff x="0" y="0"/>
            <a:chExt cx="403860" cy="612140"/>
          </a:xfrm>
        </p:grpSpPr>
        <p:sp>
          <p:nvSpPr>
            <p:cNvPr id="9" name="Freeform 9"/>
            <p:cNvSpPr/>
            <p:nvPr/>
          </p:nvSpPr>
          <p:spPr>
            <a:xfrm>
              <a:off x="49081" y="50767"/>
              <a:ext cx="305001" cy="511346"/>
            </a:xfrm>
            <a:custGeom>
              <a:avLst/>
              <a:gdLst/>
              <a:ahLst/>
              <a:cxnLst/>
              <a:rect l="l" t="t" r="r" b="b"/>
              <a:pathLst>
                <a:path w="305001" h="511346">
                  <a:moveTo>
                    <a:pt x="179519" y="67343"/>
                  </a:moveTo>
                  <a:cubicBezTo>
                    <a:pt x="95699" y="78773"/>
                    <a:pt x="82999" y="102903"/>
                    <a:pt x="71569" y="127033"/>
                  </a:cubicBezTo>
                  <a:cubicBezTo>
                    <a:pt x="53789" y="162593"/>
                    <a:pt x="38549" y="223553"/>
                    <a:pt x="33469" y="265463"/>
                  </a:cubicBezTo>
                  <a:cubicBezTo>
                    <a:pt x="29659" y="298483"/>
                    <a:pt x="27119" y="327693"/>
                    <a:pt x="36009" y="354363"/>
                  </a:cubicBezTo>
                  <a:cubicBezTo>
                    <a:pt x="44899" y="381033"/>
                    <a:pt x="65219" y="406433"/>
                    <a:pt x="85539" y="425483"/>
                  </a:cubicBezTo>
                  <a:cubicBezTo>
                    <a:pt x="104589" y="444533"/>
                    <a:pt x="131259" y="467393"/>
                    <a:pt x="152849" y="472473"/>
                  </a:cubicBezTo>
                  <a:cubicBezTo>
                    <a:pt x="168089" y="476283"/>
                    <a:pt x="184599" y="473743"/>
                    <a:pt x="198569" y="466123"/>
                  </a:cubicBezTo>
                  <a:cubicBezTo>
                    <a:pt x="215079" y="457233"/>
                    <a:pt x="230319" y="436913"/>
                    <a:pt x="240479" y="416593"/>
                  </a:cubicBezTo>
                  <a:cubicBezTo>
                    <a:pt x="253179" y="393733"/>
                    <a:pt x="258259" y="364523"/>
                    <a:pt x="263339" y="334043"/>
                  </a:cubicBezTo>
                  <a:cubicBezTo>
                    <a:pt x="268419" y="299753"/>
                    <a:pt x="273499" y="257843"/>
                    <a:pt x="269689" y="219743"/>
                  </a:cubicBezTo>
                  <a:cubicBezTo>
                    <a:pt x="264609" y="180373"/>
                    <a:pt x="254449" y="137193"/>
                    <a:pt x="237939" y="102903"/>
                  </a:cubicBezTo>
                  <a:cubicBezTo>
                    <a:pt x="222699" y="73693"/>
                    <a:pt x="179519" y="44483"/>
                    <a:pt x="179519" y="25433"/>
                  </a:cubicBezTo>
                  <a:cubicBezTo>
                    <a:pt x="179519" y="15273"/>
                    <a:pt x="193489" y="1303"/>
                    <a:pt x="199839" y="33"/>
                  </a:cubicBezTo>
                  <a:cubicBezTo>
                    <a:pt x="204919" y="33"/>
                    <a:pt x="212539" y="5113"/>
                    <a:pt x="215079" y="10193"/>
                  </a:cubicBezTo>
                  <a:cubicBezTo>
                    <a:pt x="217619" y="15273"/>
                    <a:pt x="217619" y="30513"/>
                    <a:pt x="212539" y="34323"/>
                  </a:cubicBezTo>
                  <a:cubicBezTo>
                    <a:pt x="207459" y="38133"/>
                    <a:pt x="183329" y="33053"/>
                    <a:pt x="180789" y="27973"/>
                  </a:cubicBezTo>
                  <a:cubicBezTo>
                    <a:pt x="178249" y="22893"/>
                    <a:pt x="189679" y="1303"/>
                    <a:pt x="197299" y="33"/>
                  </a:cubicBezTo>
                  <a:cubicBezTo>
                    <a:pt x="209999" y="-1237"/>
                    <a:pt x="236669" y="34323"/>
                    <a:pt x="250639" y="53373"/>
                  </a:cubicBezTo>
                  <a:cubicBezTo>
                    <a:pt x="264609" y="72423"/>
                    <a:pt x="273499" y="91473"/>
                    <a:pt x="282389" y="115603"/>
                  </a:cubicBezTo>
                  <a:cubicBezTo>
                    <a:pt x="292549" y="144813"/>
                    <a:pt x="300169" y="184183"/>
                    <a:pt x="303979" y="221013"/>
                  </a:cubicBezTo>
                  <a:cubicBezTo>
                    <a:pt x="306519" y="259113"/>
                    <a:pt x="303979" y="304833"/>
                    <a:pt x="300169" y="340393"/>
                  </a:cubicBezTo>
                  <a:cubicBezTo>
                    <a:pt x="296359" y="368333"/>
                    <a:pt x="293819" y="392463"/>
                    <a:pt x="282389" y="416593"/>
                  </a:cubicBezTo>
                  <a:cubicBezTo>
                    <a:pt x="272229" y="440723"/>
                    <a:pt x="255719" y="466123"/>
                    <a:pt x="237939" y="482633"/>
                  </a:cubicBezTo>
                  <a:cubicBezTo>
                    <a:pt x="222699" y="496603"/>
                    <a:pt x="202379" y="508033"/>
                    <a:pt x="183329" y="510573"/>
                  </a:cubicBezTo>
                  <a:cubicBezTo>
                    <a:pt x="164279" y="513113"/>
                    <a:pt x="143959" y="509303"/>
                    <a:pt x="126179" y="500413"/>
                  </a:cubicBezTo>
                  <a:cubicBezTo>
                    <a:pt x="103319" y="491523"/>
                    <a:pt x="79189" y="468663"/>
                    <a:pt x="60139" y="448343"/>
                  </a:cubicBezTo>
                  <a:cubicBezTo>
                    <a:pt x="41089" y="428023"/>
                    <a:pt x="19499" y="407703"/>
                    <a:pt x="9339" y="379763"/>
                  </a:cubicBezTo>
                  <a:cubicBezTo>
                    <a:pt x="-2091" y="346743"/>
                    <a:pt x="-821" y="299753"/>
                    <a:pt x="1719" y="260383"/>
                  </a:cubicBezTo>
                  <a:cubicBezTo>
                    <a:pt x="5529" y="221013"/>
                    <a:pt x="14419" y="176563"/>
                    <a:pt x="27119" y="142273"/>
                  </a:cubicBezTo>
                  <a:cubicBezTo>
                    <a:pt x="36009" y="111793"/>
                    <a:pt x="48709" y="82583"/>
                    <a:pt x="63949" y="63533"/>
                  </a:cubicBezTo>
                  <a:cubicBezTo>
                    <a:pt x="75379" y="49563"/>
                    <a:pt x="89349" y="40673"/>
                    <a:pt x="103319" y="34323"/>
                  </a:cubicBezTo>
                  <a:cubicBezTo>
                    <a:pt x="116019" y="27973"/>
                    <a:pt x="128719" y="25433"/>
                    <a:pt x="143959" y="25433"/>
                  </a:cubicBezTo>
                  <a:cubicBezTo>
                    <a:pt x="161739" y="26703"/>
                    <a:pt x="193489" y="29243"/>
                    <a:pt x="201109" y="39403"/>
                  </a:cubicBezTo>
                  <a:cubicBezTo>
                    <a:pt x="204919" y="45753"/>
                    <a:pt x="203649" y="58453"/>
                    <a:pt x="199839" y="63533"/>
                  </a:cubicBezTo>
                  <a:cubicBezTo>
                    <a:pt x="196029" y="67343"/>
                    <a:pt x="179519" y="67343"/>
                    <a:pt x="179519" y="67343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14172" y="5792091"/>
            <a:ext cx="14259657" cy="3946069"/>
            <a:chOff x="0" y="0"/>
            <a:chExt cx="19012876" cy="52614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12876" cy="5261425"/>
            </a:xfrm>
            <a:custGeom>
              <a:avLst/>
              <a:gdLst/>
              <a:ahLst/>
              <a:cxnLst/>
              <a:rect l="l" t="t" r="r" b="b"/>
              <a:pathLst>
                <a:path w="19012876" h="5261425">
                  <a:moveTo>
                    <a:pt x="0" y="0"/>
                  </a:moveTo>
                  <a:lnTo>
                    <a:pt x="19012876" y="0"/>
                  </a:lnTo>
                  <a:lnTo>
                    <a:pt x="19012876" y="5261425"/>
                  </a:lnTo>
                  <a:lnTo>
                    <a:pt x="0" y="5261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3147355" y="4335680"/>
              <a:ext cx="408759" cy="642929"/>
              <a:chOff x="0" y="0"/>
              <a:chExt cx="374650" cy="5892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2874" y="50800"/>
                <a:ext cx="250848" cy="498385"/>
              </a:xfrm>
              <a:custGeom>
                <a:avLst/>
                <a:gdLst/>
                <a:ahLst/>
                <a:cxnLst/>
                <a:rect l="l" t="t" r="r" b="b"/>
                <a:pathLst>
                  <a:path w="250848" h="498385">
                    <a:moveTo>
                      <a:pt x="112066" y="0"/>
                    </a:moveTo>
                    <a:cubicBezTo>
                      <a:pt x="324156" y="111760"/>
                      <a:pt x="247956" y="441960"/>
                      <a:pt x="178106" y="486410"/>
                    </a:cubicBezTo>
                    <a:cubicBezTo>
                      <a:pt x="134926" y="513080"/>
                      <a:pt x="35866" y="492760"/>
                      <a:pt x="7926" y="449580"/>
                    </a:cubicBezTo>
                    <a:cubicBezTo>
                      <a:pt x="-35254" y="381000"/>
                      <a:pt x="112066" y="0"/>
                      <a:pt x="112066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919441" y="4389719"/>
              <a:ext cx="443399" cy="652628"/>
              <a:chOff x="0" y="0"/>
              <a:chExt cx="406400" cy="59817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0028" y="50800"/>
                <a:ext cx="270821" cy="508485"/>
              </a:xfrm>
              <a:custGeom>
                <a:avLst/>
                <a:gdLst/>
                <a:ahLst/>
                <a:cxnLst/>
                <a:rect l="l" t="t" r="r" b="b"/>
                <a:pathLst>
                  <a:path w="270821" h="508485">
                    <a:moveTo>
                      <a:pt x="92052" y="0"/>
                    </a:moveTo>
                    <a:cubicBezTo>
                      <a:pt x="360022" y="132080"/>
                      <a:pt x="267312" y="452120"/>
                      <a:pt x="192382" y="496570"/>
                    </a:cubicBezTo>
                    <a:cubicBezTo>
                      <a:pt x="145392" y="524510"/>
                      <a:pt x="41252" y="500380"/>
                      <a:pt x="10772" y="454660"/>
                    </a:cubicBezTo>
                    <a:cubicBezTo>
                      <a:pt x="-37488" y="382270"/>
                      <a:pt x="92052" y="0"/>
                      <a:pt x="92052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488765" y="4396647"/>
              <a:ext cx="1206878" cy="634615"/>
              <a:chOff x="0" y="0"/>
              <a:chExt cx="1106170" cy="581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5571" y="50800"/>
                <a:ext cx="1051911" cy="507127"/>
              </a:xfrm>
              <a:custGeom>
                <a:avLst/>
                <a:gdLst/>
                <a:ahLst/>
                <a:cxnLst/>
                <a:rect l="l" t="t" r="r" b="b"/>
                <a:pathLst>
                  <a:path w="1051911" h="507127">
                    <a:moveTo>
                      <a:pt x="35229" y="0"/>
                    </a:moveTo>
                    <a:cubicBezTo>
                      <a:pt x="935659" y="8890"/>
                      <a:pt x="1010589" y="-10160"/>
                      <a:pt x="1039799" y="34290"/>
                    </a:cubicBezTo>
                    <a:cubicBezTo>
                      <a:pt x="1084249" y="102870"/>
                      <a:pt x="996619" y="439420"/>
                      <a:pt x="934389" y="478790"/>
                    </a:cubicBezTo>
                    <a:cubicBezTo>
                      <a:pt x="903909" y="499110"/>
                      <a:pt x="877239" y="461010"/>
                      <a:pt x="822629" y="455930"/>
                    </a:cubicBezTo>
                    <a:cubicBezTo>
                      <a:pt x="679119" y="441960"/>
                      <a:pt x="154609" y="574040"/>
                      <a:pt x="40309" y="461010"/>
                    </a:cubicBezTo>
                    <a:cubicBezTo>
                      <a:pt x="-47321" y="374650"/>
                      <a:pt x="35229" y="0"/>
                      <a:pt x="35229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41241" y="4429902"/>
              <a:ext cx="400445" cy="638772"/>
              <a:chOff x="0" y="0"/>
              <a:chExt cx="367030" cy="58547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8727" y="73660"/>
                <a:ext cx="297508" cy="480285"/>
              </a:xfrm>
              <a:custGeom>
                <a:avLst/>
                <a:gdLst/>
                <a:ahLst/>
                <a:cxnLst/>
                <a:rect l="l" t="t" r="r" b="b"/>
                <a:pathLst>
                  <a:path w="297508" h="480285">
                    <a:moveTo>
                      <a:pt x="2073" y="0"/>
                    </a:moveTo>
                    <a:cubicBezTo>
                      <a:pt x="327193" y="35560"/>
                      <a:pt x="327193" y="364490"/>
                      <a:pt x="266233" y="434340"/>
                    </a:cubicBezTo>
                    <a:cubicBezTo>
                      <a:pt x="224323" y="481330"/>
                      <a:pt x="99863" y="496570"/>
                      <a:pt x="52873" y="459740"/>
                    </a:cubicBezTo>
                    <a:cubicBezTo>
                      <a:pt x="-15707" y="405130"/>
                      <a:pt x="2073" y="0"/>
                      <a:pt x="2073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630675" y="2592612"/>
              <a:ext cx="2769954" cy="416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0"/>
                </a:lnSpc>
                <a:spcBef>
                  <a:spcPct val="0"/>
                </a:spcBef>
              </a:pPr>
              <a:r>
                <a:rPr lang="en-US" sz="190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Default threshold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3103" y="899639"/>
            <a:ext cx="7026080" cy="191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64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Threshold Tuning &amp; Catching Every Failure</a:t>
            </a:r>
          </a:p>
          <a:p>
            <a:pPr algn="l">
              <a:lnSpc>
                <a:spcPts val="4872"/>
              </a:lnSpc>
            </a:pPr>
            <a:endParaRPr lang="en-US" sz="4640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75350" y="379305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6140" y="2375469"/>
            <a:ext cx="7602005" cy="275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751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Predicted-probability-over-time plot tracks real anomaly episodes visually</a:t>
            </a:r>
          </a:p>
          <a:p>
            <a:pPr marL="453390" lvl="1" indent="-226695" algn="l">
              <a:lnSpc>
                <a:spcPts val="2751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Default 0.5 threshold → F1 = 0.96; tuned ≈0.95 threshold → F1 = 0.97 (fewer false alarms, same recall)</a:t>
            </a:r>
          </a:p>
          <a:p>
            <a:pPr marL="453390" lvl="1" indent="-226695" algn="l">
              <a:lnSpc>
                <a:spcPts val="2751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Per-episode check: all 3 real anomaly episodes in the test period detected — lag as low as 7 and 11 minutes</a:t>
            </a:r>
          </a:p>
          <a:p>
            <a:pPr marL="453390" lvl="1" indent="-226695" algn="l">
              <a:lnSpc>
                <a:spcPts val="2751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Lesson: never trust the default 0.5 cutoff blindly</a:t>
            </a:r>
          </a:p>
          <a:p>
            <a:pPr algn="l">
              <a:lnSpc>
                <a:spcPts val="2751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9328" y="347388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6" y="0"/>
                </a:lnTo>
                <a:lnTo>
                  <a:pt x="7417736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9561" y="222838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7"/>
                </a:lnTo>
                <a:lnTo>
                  <a:pt x="0" y="462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543886" y="2507828"/>
            <a:ext cx="10792219" cy="5271344"/>
          </a:xfrm>
          <a:custGeom>
            <a:avLst/>
            <a:gdLst/>
            <a:ahLst/>
            <a:cxnLst/>
            <a:rect l="l" t="t" r="r" b="b"/>
            <a:pathLst>
              <a:path w="10792219" h="5271344">
                <a:moveTo>
                  <a:pt x="0" y="0"/>
                </a:moveTo>
                <a:lnTo>
                  <a:pt x="10792220" y="0"/>
                </a:lnTo>
                <a:lnTo>
                  <a:pt x="10792220" y="5271344"/>
                </a:lnTo>
                <a:lnTo>
                  <a:pt x="0" y="52713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63103" y="1501140"/>
            <a:ext cx="7266021" cy="71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4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 after tuning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5350" y="379305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094720" y="4457700"/>
            <a:ext cx="870585" cy="422910"/>
            <a:chOff x="0" y="0"/>
            <a:chExt cx="1160780" cy="563880"/>
          </a:xfrm>
        </p:grpSpPr>
        <p:sp>
          <p:nvSpPr>
            <p:cNvPr id="11" name="Freeform 11"/>
            <p:cNvSpPr/>
            <p:nvPr/>
          </p:nvSpPr>
          <p:spPr>
            <a:xfrm>
              <a:off x="11289" y="50800"/>
              <a:ext cx="1097578" cy="523659"/>
            </a:xfrm>
            <a:custGeom>
              <a:avLst/>
              <a:gdLst/>
              <a:ahLst/>
              <a:cxnLst/>
              <a:rect l="l" t="t" r="r" b="b"/>
              <a:pathLst>
                <a:path w="1097578" h="523659">
                  <a:moveTo>
                    <a:pt x="39511" y="0"/>
                  </a:moveTo>
                  <a:cubicBezTo>
                    <a:pt x="966611" y="20320"/>
                    <a:pt x="1089801" y="45720"/>
                    <a:pt x="1097421" y="93980"/>
                  </a:cubicBezTo>
                  <a:cubicBezTo>
                    <a:pt x="1106311" y="158750"/>
                    <a:pt x="735471" y="317500"/>
                    <a:pt x="740551" y="381000"/>
                  </a:cubicBezTo>
                  <a:cubicBezTo>
                    <a:pt x="744361" y="417830"/>
                    <a:pt x="881521" y="439420"/>
                    <a:pt x="876441" y="457200"/>
                  </a:cubicBezTo>
                  <a:cubicBezTo>
                    <a:pt x="865011" y="499110"/>
                    <a:pt x="157621" y="580390"/>
                    <a:pt x="39511" y="462280"/>
                  </a:cubicBezTo>
                  <a:cubicBezTo>
                    <a:pt x="-49389" y="373380"/>
                    <a:pt x="39511" y="0"/>
                    <a:pt x="39511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22570" y="7339965"/>
            <a:ext cx="1283018" cy="437197"/>
            <a:chOff x="0" y="0"/>
            <a:chExt cx="1710690" cy="582930"/>
          </a:xfrm>
        </p:grpSpPr>
        <p:sp>
          <p:nvSpPr>
            <p:cNvPr id="13" name="Freeform 13"/>
            <p:cNvSpPr/>
            <p:nvPr/>
          </p:nvSpPr>
          <p:spPr>
            <a:xfrm>
              <a:off x="8361" y="50800"/>
              <a:ext cx="1676747" cy="611145"/>
            </a:xfrm>
            <a:custGeom>
              <a:avLst/>
              <a:gdLst/>
              <a:ahLst/>
              <a:cxnLst/>
              <a:rect l="l" t="t" r="r" b="b"/>
              <a:pathLst>
                <a:path w="1676747" h="611145">
                  <a:moveTo>
                    <a:pt x="48789" y="0"/>
                  </a:moveTo>
                  <a:cubicBezTo>
                    <a:pt x="1748049" y="124460"/>
                    <a:pt x="1741699" y="383540"/>
                    <a:pt x="1640099" y="481330"/>
                  </a:cubicBezTo>
                  <a:cubicBezTo>
                    <a:pt x="1449599" y="664210"/>
                    <a:pt x="226589" y="650240"/>
                    <a:pt x="42439" y="462280"/>
                  </a:cubicBezTo>
                  <a:cubicBezTo>
                    <a:pt x="-56621" y="360680"/>
                    <a:pt x="48789" y="0"/>
                    <a:pt x="48789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74418" y="7098030"/>
            <a:ext cx="1319212" cy="484822"/>
            <a:chOff x="0" y="0"/>
            <a:chExt cx="1758950" cy="646430"/>
          </a:xfrm>
        </p:grpSpPr>
        <p:sp>
          <p:nvSpPr>
            <p:cNvPr id="15" name="Freeform 15"/>
            <p:cNvSpPr/>
            <p:nvPr/>
          </p:nvSpPr>
          <p:spPr>
            <a:xfrm>
              <a:off x="16320" y="8120"/>
              <a:ext cx="1750380" cy="691081"/>
            </a:xfrm>
            <a:custGeom>
              <a:avLst/>
              <a:gdLst/>
              <a:ahLst/>
              <a:cxnLst/>
              <a:rect l="l" t="t" r="r" b="b"/>
              <a:pathLst>
                <a:path w="1750380" h="691081">
                  <a:moveTo>
                    <a:pt x="34480" y="125230"/>
                  </a:moveTo>
                  <a:cubicBezTo>
                    <a:pt x="1023810" y="88400"/>
                    <a:pt x="1529270" y="-76700"/>
                    <a:pt x="1665160" y="42680"/>
                  </a:cubicBezTo>
                  <a:cubicBezTo>
                    <a:pt x="1759140" y="126500"/>
                    <a:pt x="1785810" y="394470"/>
                    <a:pt x="1691830" y="499880"/>
                  </a:cubicBezTo>
                  <a:cubicBezTo>
                    <a:pt x="1515300" y="698000"/>
                    <a:pt x="246570" y="766580"/>
                    <a:pt x="50990" y="587510"/>
                  </a:cubicBezTo>
                  <a:cubicBezTo>
                    <a:pt x="-53150" y="492260"/>
                    <a:pt x="34480" y="125230"/>
                    <a:pt x="34480" y="12523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358" y="2809875"/>
            <a:ext cx="9051642" cy="2619652"/>
          </a:xfrm>
          <a:custGeom>
            <a:avLst/>
            <a:gdLst/>
            <a:ahLst/>
            <a:cxnLst/>
            <a:rect l="l" t="t" r="r" b="b"/>
            <a:pathLst>
              <a:path w="9051642" h="2619652">
                <a:moveTo>
                  <a:pt x="0" y="0"/>
                </a:moveTo>
                <a:lnTo>
                  <a:pt x="9051642" y="0"/>
                </a:lnTo>
                <a:lnTo>
                  <a:pt x="9051642" y="2619652"/>
                </a:lnTo>
                <a:lnTo>
                  <a:pt x="0" y="2619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16760" y="281435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515556" y="2495740"/>
            <a:ext cx="7671818" cy="3792153"/>
          </a:xfrm>
          <a:custGeom>
            <a:avLst/>
            <a:gdLst/>
            <a:ahLst/>
            <a:cxnLst/>
            <a:rect l="l" t="t" r="r" b="b"/>
            <a:pathLst>
              <a:path w="7671818" h="3792153">
                <a:moveTo>
                  <a:pt x="0" y="0"/>
                </a:moveTo>
                <a:lnTo>
                  <a:pt x="7671818" y="0"/>
                </a:lnTo>
                <a:lnTo>
                  <a:pt x="7671818" y="3792153"/>
                </a:lnTo>
                <a:lnTo>
                  <a:pt x="0" y="37921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020050" y="2888933"/>
            <a:ext cx="739140" cy="445770"/>
            <a:chOff x="0" y="0"/>
            <a:chExt cx="985520" cy="594360"/>
          </a:xfrm>
        </p:grpSpPr>
        <p:sp>
          <p:nvSpPr>
            <p:cNvPr id="10" name="Freeform 10"/>
            <p:cNvSpPr/>
            <p:nvPr/>
          </p:nvSpPr>
          <p:spPr>
            <a:xfrm>
              <a:off x="15240" y="50800"/>
              <a:ext cx="960570" cy="510426"/>
            </a:xfrm>
            <a:custGeom>
              <a:avLst/>
              <a:gdLst/>
              <a:ahLst/>
              <a:cxnLst/>
              <a:rect l="l" t="t" r="r" b="b"/>
              <a:pathLst>
                <a:path w="960570" h="510426">
                  <a:moveTo>
                    <a:pt x="35560" y="0"/>
                  </a:moveTo>
                  <a:cubicBezTo>
                    <a:pt x="687070" y="10160"/>
                    <a:pt x="807720" y="60960"/>
                    <a:pt x="866140" y="55880"/>
                  </a:cubicBezTo>
                  <a:cubicBezTo>
                    <a:pt x="891540" y="53340"/>
                    <a:pt x="906780" y="25400"/>
                    <a:pt x="919480" y="34290"/>
                  </a:cubicBezTo>
                  <a:cubicBezTo>
                    <a:pt x="957580" y="59690"/>
                    <a:pt x="989330" y="427990"/>
                    <a:pt x="918210" y="491490"/>
                  </a:cubicBezTo>
                  <a:cubicBezTo>
                    <a:pt x="857250" y="547370"/>
                    <a:pt x="702310" y="462280"/>
                    <a:pt x="574040" y="457200"/>
                  </a:cubicBezTo>
                  <a:cubicBezTo>
                    <a:pt x="415290" y="449580"/>
                    <a:pt x="121920" y="547370"/>
                    <a:pt x="35560" y="461010"/>
                  </a:cubicBezTo>
                  <a:cubicBezTo>
                    <a:pt x="-44450" y="382270"/>
                    <a:pt x="35560" y="0"/>
                    <a:pt x="35560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73403" y="4808220"/>
            <a:ext cx="588645" cy="452438"/>
            <a:chOff x="0" y="0"/>
            <a:chExt cx="784860" cy="603250"/>
          </a:xfrm>
        </p:grpSpPr>
        <p:sp>
          <p:nvSpPr>
            <p:cNvPr id="12" name="Freeform 12"/>
            <p:cNvSpPr/>
            <p:nvPr/>
          </p:nvSpPr>
          <p:spPr>
            <a:xfrm>
              <a:off x="44165" y="29359"/>
              <a:ext cx="737208" cy="542270"/>
            </a:xfrm>
            <a:custGeom>
              <a:avLst/>
              <a:gdLst/>
              <a:ahLst/>
              <a:cxnLst/>
              <a:rect l="l" t="t" r="r" b="b"/>
              <a:pathLst>
                <a:path w="737208" h="542270">
                  <a:moveTo>
                    <a:pt x="6635" y="63351"/>
                  </a:moveTo>
                  <a:cubicBezTo>
                    <a:pt x="520985" y="17631"/>
                    <a:pt x="639095" y="-28089"/>
                    <a:pt x="688625" y="21441"/>
                  </a:cubicBezTo>
                  <a:cubicBezTo>
                    <a:pt x="754665" y="87481"/>
                    <a:pt x="752125" y="415141"/>
                    <a:pt x="688625" y="478641"/>
                  </a:cubicBezTo>
                  <a:cubicBezTo>
                    <a:pt x="645445" y="523091"/>
                    <a:pt x="550195" y="474831"/>
                    <a:pt x="463835" y="478641"/>
                  </a:cubicBezTo>
                  <a:cubicBezTo>
                    <a:pt x="346995" y="484991"/>
                    <a:pt x="132365" y="584051"/>
                    <a:pt x="54895" y="521821"/>
                  </a:cubicBezTo>
                  <a:cubicBezTo>
                    <a:pt x="-26385" y="455781"/>
                    <a:pt x="6635" y="63351"/>
                    <a:pt x="6635" y="63351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48625" y="3699510"/>
            <a:ext cx="854393" cy="444818"/>
            <a:chOff x="0" y="0"/>
            <a:chExt cx="1139190" cy="593090"/>
          </a:xfrm>
        </p:grpSpPr>
        <p:sp>
          <p:nvSpPr>
            <p:cNvPr id="14" name="Freeform 14"/>
            <p:cNvSpPr/>
            <p:nvPr/>
          </p:nvSpPr>
          <p:spPr>
            <a:xfrm>
              <a:off x="15734" y="50800"/>
              <a:ext cx="1100858" cy="510993"/>
            </a:xfrm>
            <a:custGeom>
              <a:avLst/>
              <a:gdLst/>
              <a:ahLst/>
              <a:cxnLst/>
              <a:rect l="l" t="t" r="r" b="b"/>
              <a:pathLst>
                <a:path w="1100858" h="510993">
                  <a:moveTo>
                    <a:pt x="46496" y="0"/>
                  </a:moveTo>
                  <a:cubicBezTo>
                    <a:pt x="921526" y="15240"/>
                    <a:pt x="1026936" y="-17780"/>
                    <a:pt x="1071386" y="36830"/>
                  </a:cubicBezTo>
                  <a:cubicBezTo>
                    <a:pt x="1129806" y="107950"/>
                    <a:pt x="1094246" y="436880"/>
                    <a:pt x="1026936" y="491490"/>
                  </a:cubicBezTo>
                  <a:cubicBezTo>
                    <a:pt x="979946" y="528320"/>
                    <a:pt x="906286" y="471170"/>
                    <a:pt x="811036" y="466090"/>
                  </a:cubicBezTo>
                  <a:cubicBezTo>
                    <a:pt x="633236" y="454660"/>
                    <a:pt x="144286" y="575310"/>
                    <a:pt x="35066" y="462280"/>
                  </a:cubicBezTo>
                  <a:cubicBezTo>
                    <a:pt x="-50024" y="374650"/>
                    <a:pt x="46496" y="0"/>
                    <a:pt x="46496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67938" y="2809875"/>
            <a:ext cx="406718" cy="437197"/>
            <a:chOff x="0" y="0"/>
            <a:chExt cx="542290" cy="582930"/>
          </a:xfrm>
        </p:grpSpPr>
        <p:sp>
          <p:nvSpPr>
            <p:cNvPr id="16" name="Freeform 16"/>
            <p:cNvSpPr/>
            <p:nvPr/>
          </p:nvSpPr>
          <p:spPr>
            <a:xfrm>
              <a:off x="27159" y="71120"/>
              <a:ext cx="494249" cy="504298"/>
            </a:xfrm>
            <a:custGeom>
              <a:avLst/>
              <a:gdLst/>
              <a:ahLst/>
              <a:cxnLst/>
              <a:rect l="l" t="t" r="r" b="b"/>
              <a:pathLst>
                <a:path w="494249" h="504298">
                  <a:moveTo>
                    <a:pt x="23641" y="0"/>
                  </a:moveTo>
                  <a:cubicBezTo>
                    <a:pt x="516401" y="50800"/>
                    <a:pt x="534181" y="356870"/>
                    <a:pt x="464331" y="436880"/>
                  </a:cubicBezTo>
                  <a:cubicBezTo>
                    <a:pt x="395751" y="513080"/>
                    <a:pt x="113811" y="529590"/>
                    <a:pt x="38881" y="461010"/>
                  </a:cubicBezTo>
                  <a:cubicBezTo>
                    <a:pt x="-38589" y="389890"/>
                    <a:pt x="23641" y="0"/>
                    <a:pt x="23641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94545" y="5264468"/>
            <a:ext cx="871538" cy="468630"/>
            <a:chOff x="0" y="0"/>
            <a:chExt cx="1162050" cy="624840"/>
          </a:xfrm>
        </p:grpSpPr>
        <p:sp>
          <p:nvSpPr>
            <p:cNvPr id="18" name="Freeform 18"/>
            <p:cNvSpPr/>
            <p:nvPr/>
          </p:nvSpPr>
          <p:spPr>
            <a:xfrm>
              <a:off x="42114" y="18953"/>
              <a:ext cx="1125493" cy="581262"/>
            </a:xfrm>
            <a:custGeom>
              <a:avLst/>
              <a:gdLst/>
              <a:ahLst/>
              <a:cxnLst/>
              <a:rect l="l" t="t" r="r" b="b"/>
              <a:pathLst>
                <a:path w="1125493" h="581262">
                  <a:moveTo>
                    <a:pt x="8686" y="95347"/>
                  </a:moveTo>
                  <a:cubicBezTo>
                    <a:pt x="742746" y="38197"/>
                    <a:pt x="986586" y="-46893"/>
                    <a:pt x="1067866" y="31847"/>
                  </a:cubicBezTo>
                  <a:cubicBezTo>
                    <a:pt x="1145336" y="106777"/>
                    <a:pt x="1144066" y="410307"/>
                    <a:pt x="1067866" y="489047"/>
                  </a:cubicBezTo>
                  <a:cubicBezTo>
                    <a:pt x="990396" y="567787"/>
                    <a:pt x="766876" y="494127"/>
                    <a:pt x="606856" y="504287"/>
                  </a:cubicBezTo>
                  <a:cubicBezTo>
                    <a:pt x="431596" y="514447"/>
                    <a:pt x="154736" y="633827"/>
                    <a:pt x="58216" y="553817"/>
                  </a:cubicBezTo>
                  <a:cubicBezTo>
                    <a:pt x="-30684" y="481427"/>
                    <a:pt x="8686" y="95347"/>
                    <a:pt x="8686" y="95347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5" y="1519923"/>
            <a:ext cx="5195354" cy="155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74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Comparison: All Five Models</a:t>
            </a:r>
          </a:p>
          <a:p>
            <a:pPr algn="l">
              <a:lnSpc>
                <a:spcPts val="3936"/>
              </a:lnSpc>
            </a:pPr>
            <a:endParaRPr lang="en-US" sz="3748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8911" y="5936230"/>
            <a:ext cx="7645598" cy="35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1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*LSTM precision/recall/F1 shown using the tuned threshold.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6581775"/>
            <a:ext cx="6706362" cy="136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918" lvl="1" indent="-209959" algn="l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PR-AUC: Random Forest </a:t>
            </a:r>
            <a:r>
              <a:rPr lang="en-US" sz="194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0.997</a:t>
            </a:r>
            <a:r>
              <a:rPr lang="en-US" sz="194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(best) · Naive Bayes </a:t>
            </a:r>
            <a:r>
              <a:rPr lang="en-US" sz="194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0.878</a:t>
            </a:r>
            <a:r>
              <a:rPr lang="en-US" sz="194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(weakest)</a:t>
            </a:r>
          </a:p>
          <a:p>
            <a:pPr marL="419918" lvl="1" indent="-209959" algn="l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 model caught all 3 real anomaly episodes — the one number that never changed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98284" y="6606476"/>
            <a:ext cx="6706362" cy="68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918" lvl="1" indent="-209959" algn="l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Training time: Naive Bayes fastest (~0.4s) → LSTM slowest (~16s)</a:t>
            </a:r>
          </a:p>
        </p:txBody>
      </p:sp>
    </p:spTree>
  </p:cSld>
  <p:clrMapOvr>
    <a:masterClrMapping/>
  </p:clrMapOvr>
  <p:transition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6760" y="2814357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6"/>
                </a:lnTo>
                <a:lnTo>
                  <a:pt x="0" y="741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680164" y="-2326053"/>
            <a:ext cx="7417737" cy="7417737"/>
          </a:xfrm>
          <a:custGeom>
            <a:avLst/>
            <a:gdLst/>
            <a:ahLst/>
            <a:cxnLst/>
            <a:rect l="l" t="t" r="r" b="b"/>
            <a:pathLst>
              <a:path w="7417737" h="7417737">
                <a:moveTo>
                  <a:pt x="0" y="0"/>
                </a:moveTo>
                <a:lnTo>
                  <a:pt x="7417737" y="0"/>
                </a:lnTo>
                <a:lnTo>
                  <a:pt x="7417737" y="7417737"/>
                </a:lnTo>
                <a:lnTo>
                  <a:pt x="0" y="7417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23846"/>
            <a:ext cx="660987" cy="462686"/>
          </a:xfrm>
          <a:custGeom>
            <a:avLst/>
            <a:gdLst/>
            <a:ahLst/>
            <a:cxnLst/>
            <a:rect l="l" t="t" r="r" b="b"/>
            <a:pathLst>
              <a:path w="660987" h="462686">
                <a:moveTo>
                  <a:pt x="0" y="0"/>
                </a:moveTo>
                <a:lnTo>
                  <a:pt x="660987" y="0"/>
                </a:lnTo>
                <a:lnTo>
                  <a:pt x="660987" y="462686"/>
                </a:lnTo>
                <a:lnTo>
                  <a:pt x="0" y="4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96407" y="3070904"/>
            <a:ext cx="16448269" cy="6389975"/>
          </a:xfrm>
          <a:custGeom>
            <a:avLst/>
            <a:gdLst/>
            <a:ahLst/>
            <a:cxnLst/>
            <a:rect l="l" t="t" r="r" b="b"/>
            <a:pathLst>
              <a:path w="16448269" h="6389975">
                <a:moveTo>
                  <a:pt x="0" y="0"/>
                </a:moveTo>
                <a:lnTo>
                  <a:pt x="16448268" y="0"/>
                </a:lnTo>
                <a:lnTo>
                  <a:pt x="16448268" y="6389975"/>
                </a:lnTo>
                <a:lnTo>
                  <a:pt x="0" y="6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259300" y="345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5" y="1519923"/>
            <a:ext cx="5195354" cy="155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74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Comparison: All Five Models</a:t>
            </a:r>
          </a:p>
          <a:p>
            <a:pPr algn="l">
              <a:lnSpc>
                <a:spcPts val="3936"/>
              </a:lnSpc>
            </a:pPr>
            <a:endParaRPr lang="en-US" sz="3748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</p:spTree>
  </p:cSld>
  <p:clrMapOvr>
    <a:masterClrMapping/>
  </p:clrMapOvr>
  <p:transition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7259300" y="7908631"/>
            <a:ext cx="2378369" cy="2378369"/>
          </a:xfrm>
          <a:custGeom>
            <a:avLst/>
            <a:gdLst/>
            <a:ahLst/>
            <a:cxnLst/>
            <a:rect l="l" t="t" r="r" b="b"/>
            <a:pathLst>
              <a:path w="2378369" h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057400" y="2713452"/>
            <a:ext cx="10134950" cy="362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Anomaly rate ~6–7% → a "predict NORMAL always" model looks 93% accurate while catching nothing</a:t>
            </a:r>
          </a:p>
          <a:p>
            <a:pPr marL="474979" lvl="1" indent="-237490" algn="just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Reproducibility finding: re-ran the whole pipeline 4 times — DT/RF/NB identical every time; LSTM's raw threshold performance swung run-to-run</a:t>
            </a:r>
          </a:p>
          <a:p>
            <a:pPr marL="474979" lvl="1" indent="-237490" algn="just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What never moved: every real fault, every run, every model — always caught</a:t>
            </a:r>
          </a:p>
          <a:p>
            <a:pPr marL="474979" lvl="1" indent="-237490" algn="just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Recommendation: Random Forest as primary detector; LSTM as a complementary sequence-aware signal</a:t>
            </a:r>
          </a:p>
          <a:p>
            <a:pPr algn="just">
              <a:lnSpc>
                <a:spcPts val="2881"/>
              </a:lnSpc>
            </a:pPr>
            <a:endParaRPr lang="en-US" sz="2199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345752" y="6145833"/>
            <a:ext cx="12070120" cy="3946682"/>
            <a:chOff x="0" y="0"/>
            <a:chExt cx="16093494" cy="52622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93494" cy="5262242"/>
            </a:xfrm>
            <a:custGeom>
              <a:avLst/>
              <a:gdLst/>
              <a:ahLst/>
              <a:cxnLst/>
              <a:rect l="l" t="t" r="r" b="b"/>
              <a:pathLst>
                <a:path w="16093494" h="5262242">
                  <a:moveTo>
                    <a:pt x="0" y="0"/>
                  </a:moveTo>
                  <a:lnTo>
                    <a:pt x="16093494" y="0"/>
                  </a:lnTo>
                  <a:lnTo>
                    <a:pt x="16093494" y="5262242"/>
                  </a:lnTo>
                  <a:lnTo>
                    <a:pt x="0" y="5262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72256" y="2973654"/>
              <a:ext cx="8903253" cy="962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1"/>
                </a:lnSpc>
              </a:pPr>
              <a:r>
                <a:rPr lang="en-US" sz="2199" b="1" i="1">
                  <a:solidFill>
                    <a:srgbClr val="545454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Which models actually caught each real anomaly episode?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9193" y="1614242"/>
            <a:ext cx="11400135" cy="75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509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 &amp; Recommendation</a:t>
            </a:r>
          </a:p>
        </p:txBody>
      </p:sp>
    </p:spTree>
  </p:cSld>
  <p:clrMapOvr>
    <a:masterClrMapping/>
  </p:clrMapOvr>
  <p:transition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4485" y="3843126"/>
            <a:ext cx="12587979" cy="227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18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4485" y="5612168"/>
            <a:ext cx="13112905" cy="130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10416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Your Attention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891968"/>
            <a:ext cx="3954563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is not about numbers, it's about understanding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1925628" y="437502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37014" y="-741289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823847"/>
            <a:ext cx="660985" cy="462690"/>
          </a:xfrm>
          <a:custGeom>
            <a:avLst/>
            <a:gdLst/>
            <a:ahLst/>
            <a:cxnLst/>
            <a:rect l="l" t="t" r="r" b="b"/>
            <a:pathLst>
              <a:path w="660985" h="462690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1029557" y="0"/>
            <a:ext cx="2059114" cy="4114800"/>
          </a:xfrm>
          <a:custGeom>
            <a:avLst/>
            <a:gdLst/>
            <a:ahLst/>
            <a:cxnLst/>
            <a:rect l="l" t="t" r="r" b="b"/>
            <a:pathLst>
              <a:path w="2059114" h="4114800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2593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04489" y="980313"/>
            <a:ext cx="3783940" cy="2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DRW Group 2</a:t>
            </a:r>
          </a:p>
        </p:txBody>
      </p:sp>
    </p:spTree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1243</Words>
  <Application>Microsoft Macintosh PowerPoint</Application>
  <PresentationFormat>Custom</PresentationFormat>
  <Paragraphs>184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Poppins Bold</vt:lpstr>
      <vt:lpstr>Poppins</vt:lpstr>
      <vt:lpstr>Arial</vt:lpstr>
      <vt:lpstr>Calibri</vt:lpstr>
      <vt:lpstr>Poppins Italics</vt:lpstr>
      <vt:lpstr>Poppins Light Italics</vt:lpstr>
      <vt:lpstr>Poppins Light</vt:lpstr>
      <vt:lpstr>Poppins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PRT565 MACHINE LEARNING- Assignment 3</dc:title>
  <cp:lastModifiedBy>Phuong Tran Tran</cp:lastModifiedBy>
  <cp:revision>2</cp:revision>
  <dcterms:created xsi:type="dcterms:W3CDTF">2006-08-16T00:00:00Z</dcterms:created>
  <dcterms:modified xsi:type="dcterms:W3CDTF">2026-09-27T07:15:22Z</dcterms:modified>
  <dc:identifier>DAHWXiRzweQ</dc:identifier>
</cp:coreProperties>
</file>